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656156f4-65f0-ac3a-720d-9a118fa7a483}">
          <p14:sldIdLst>
            <p14:sldId id="256"/>
          </p14:sldIdLst>
        </p14:section>
        <p14:section name="المشكلة والحل" id="{69363283-f023-a6ce-ea19-ce1c7eb23580}">
          <p14:sldIdLst>
            <p14:sldId id="257"/>
            <p14:sldId id="258"/>
          </p14:sldIdLst>
        </p14:section>
        <p14:section name="كيف تعمل" id="{a99ec505-3d57-3033-78cb-069430c10021}">
          <p14:sldIdLst>
            <p14:sldId id="259"/>
            <p14:sldId id="260"/>
          </p14:sldIdLst>
        </p14:section>
        <p14:section name="الوكلاء والقرار" id="{1e20cb04-3028-5cd0-1820-44166e19ca2b}">
          <p14:sldIdLst>
            <p14:sldId id="261"/>
            <p14:sldId id="262"/>
            <p14:sldId id="263"/>
          </p14:sldIdLst>
        </p14:section>
        <p14:section name="النتائج" id="{ef05edc9-7adc-2db8-0050-ba8811725825}">
          <p14:sldIdLst>
            <p14:sldId id="264"/>
            <p14:sldId id="265"/>
          </p14:sldIdLst>
        </p14:section>
        <p14:section name="التقنية والختام" id="{790f02fc-d8ed-c372-415b-5bd587bc44b3}">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FFFFF"/>
                </a:solidFill>
                <a:latin typeface="+mn-lt"/>
              </a:defRPr>
            </a:pPr>
            <a:r>
              <a:rPr sz="1500" b="0" i="0" u="none" strike="noStrike">
                <a:solidFill>
                  <a:srgbClr val="FFFFFF"/>
                </a:solidFill>
                <a:latin typeface="+mn-lt"/>
              </a:rPr>
              <a:t>نسبة رصد المهاجم عند 25 اتصالًا في الدقيقة</a:t>
            </a:r>
          </a:p>
        </c:rich>
      </c:tx>
      <c:layout/>
      <c:overlay val="0"/>
    </c:title>
    <c:autoTitleDeleted val="0"/>
    <c:plotArea>
      <c:layout/>
      <c:barChart>
        <c:barDir val="col"/>
        <c:grouping val="clustered"/>
        <c:varyColors val="0"/>
        <c:ser>
          <c:idx val="0"/>
          <c:order val="0"/>
          <c:tx>
            <c:strRef>
              <c:f>Sheet1!$B$1</c:f>
              <c:strCache>
                <c:ptCount val="1"/>
                <c:pt idx="0">
                  <c:v>القواعد السلوكية</c:v>
                </c:pt>
              </c:strCache>
            </c:strRef>
          </c:tx>
          <c:spPr>
            <a:solidFill>
              <a:srgbClr val="64718E"/>
            </a:solidFill>
            <a:effectLst/>
          </c:spPr>
          <c:invertIfNegative val="0"/>
          <c:dLbls>
            <c:numFmt formatCode="0&quot;%&quot;"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Sheet1!$A$2:$A$7</c:f>
              <c:multiLvlStrCache>
                <c:ptCount val="6"/>
                <c:lvl>
                  <c:pt idx="0">
                    <c:v>PortScan</c:v>
                  </c:pt>
                  <c:pt idx="1">
                    <c:v>DoS</c:v>
                  </c:pt>
                  <c:pt idx="2">
                    <c:v>DDoS</c:v>
                  </c:pt>
                  <c:pt idx="3">
                    <c:v>Brute Force</c:v>
                  </c:pt>
                  <c:pt idx="4">
                    <c:v>Web Attack</c:v>
                  </c:pt>
                  <c:pt idx="5">
                    <c:v>Botnet</c:v>
                  </c:pt>
                </c:lvl>
              </c:multiLvlStrCache>
            </c:multiLvlStrRef>
          </c:cat>
          <c:val>
            <c:numRef>
              <c:f>Sheet1!$B$2:$B$7</c:f>
              <c:numCache>
                <c:formatCode>General</c:formatCode>
                <c:ptCount val="6"/>
                <c:pt idx="0">
                  <c:v>100</c:v>
                </c:pt>
                <c:pt idx="1">
                  <c:v>0</c:v>
                </c:pt>
                <c:pt idx="2">
                  <c:v>0</c:v>
                </c:pt>
                <c:pt idx="3">
                  <c:v>100</c:v>
                </c:pt>
                <c:pt idx="4">
                  <c:v>0</c:v>
                </c:pt>
                <c:pt idx="5">
                  <c:v>0</c:v>
                </c:pt>
              </c:numCache>
            </c:numRef>
          </c:val>
        </c:ser>
        <c:ser>
          <c:idx val="1"/>
          <c:order val="1"/>
          <c:tx>
            <c:strRef>
              <c:f>Sheet1!$C$1</c:f>
              <c:strCache>
                <c:ptCount val="1"/>
                <c:pt idx="0">
                  <c:v>نموذج التعلّم الآلي</c:v>
                </c:pt>
              </c:strCache>
            </c:strRef>
          </c:tx>
          <c:spPr>
            <a:solidFill>
              <a:srgbClr val="2FE38A"/>
            </a:solidFill>
            <a:effectLst/>
          </c:spPr>
          <c:invertIfNegative val="0"/>
          <c:dLbls>
            <c:numFmt formatCode="0&quot;%&quot;"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Sheet1!$A$2:$A$7</c:f>
              <c:multiLvlStrCache>
                <c:ptCount val="6"/>
                <c:lvl>
                  <c:pt idx="0">
                    <c:v>PortScan</c:v>
                  </c:pt>
                  <c:pt idx="1">
                    <c:v>DoS</c:v>
                  </c:pt>
                  <c:pt idx="2">
                    <c:v>DDoS</c:v>
                  </c:pt>
                  <c:pt idx="3">
                    <c:v>Brute Force</c:v>
                  </c:pt>
                  <c:pt idx="4">
                    <c:v>Web Attack</c:v>
                  </c:pt>
                  <c:pt idx="5">
                    <c:v>Botnet</c:v>
                  </c:pt>
                </c:lvl>
              </c:multiLvlStrCache>
            </c:multiLvlStrRef>
          </c:cat>
          <c:val>
            <c:numRef>
              <c:f>Sheet1!$C$2:$C$7</c:f>
              <c:numCache>
                <c:formatCode>General</c:formatCode>
                <c:ptCount val="6"/>
                <c:pt idx="0">
                  <c:v>100</c:v>
                </c:pt>
                <c:pt idx="1">
                  <c:v>100</c:v>
                </c:pt>
                <c:pt idx="2">
                  <c:v>100</c:v>
                </c:pt>
                <c:pt idx="3">
                  <c:v>100</c:v>
                </c:pt>
                <c:pt idx="4">
                  <c:v>100</c:v>
                </c:pt>
                <c:pt idx="5">
                  <c:v>100</c:v>
                </c:pt>
              </c:numCache>
            </c:numRef>
          </c:val>
        </c:ser>
        <c:dLbls>
          <c:numFmt formatCode="0&quot;%&quot;"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AA7C4"/>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1E2A44"/>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AA7C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9AA7C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منصة التنبؤ بالهجمات السيبرانية: فريق أمني ذكي لكل منشأة صغيرة. تكشف الهجوم، وتتنبأ به، وتحقق فيه، وتقترح الإجراء، والقرار يبقى لصاحب المنشأة.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المنشآت الصغيرة لا تملك فريقًا أمنيًا. والمهاجم لا يطرق بابًا واحدًا: يفحص الخادم، ثم يبحث في الموقع عن ملف مكشوف، ثم يحاول الدخول. وكل أداة ترى جزءًا صغيرًا من الصورة.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المنصة مسار واحد: تجمع الإشارات من مصادر المنشأة، تكشف الهجوم بالنماذج والقواعد، يحقق فيه فريق وكلاء أذكياء، ثم يقرر صاحب المنشأة بموافقة واحدة، ويصل الأمر موقّعًا إلى خادمه.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تسجّل المنشأة في دقيقة وتربط مصادرها: سجلات موقعها وجدارها الناري، ووكيلًا خفيفًا على خادمها يلخّص الترافيك دون أن يرسل محتواه، ومراقبة خارجية للموقع تفحصه كما يراه المهاجم.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القلب نماذج تعلّم آلي مدرّبة على ملايين الاتصالات: تكشف 94.8% من الهجمات، وتحدد نوعها بـ Macro-F1 يبلغ 95.2%، ونموذج ثالث يرصد مبكرًا 41% من الهجمات قبل أن تبدأ. ولتفادي الإنذار الكاذب، لا يفتح النموذج حادثة إلا بعد حاجز أدلة.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نظام متعدد الوكلاء: محلل السجلات ومحلل الشبكة يحقق كل منهما في حادثته بأدوات تستدعي النماذج والسجلات الحقيقية، ثم يقرأ المنسّق تقاريرهما ويبني ملف المهاجم ويفحص السياسة، ويكتب لصاحب المنشأة تقريرًا واحدًا: ماذا حدث، وما الخطر، وماذا يفعل الآن.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ثلاثة مصادر فتحت ثلاث حوادث منفصلة، لكن المنصة ربطتها في حملة واحدة بقاعدتين ثابتتين قابلتين للتفسير: نفس العنوان ظهر في الشبكة والسجلات، وطلب الملف الذي كشفته المراقبة وحمّله فعلًا. ولكل ربط سبب مكتوب يراه صاحب المنشأة.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والقرار يبقى للإنسان. بدل ثلاث موافقات، موافقة واحدة تحظر المهاجم. يصل الأمر موقّعًا إلى خادم المنشأة، ويمر بحواجز أمان: لا حظر لعنوان محمي، ولا إجراء أشد مما تسمح به السياسة. ثم تُغلق الحوادث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قسنا ذلك: رُصد كل هجوم في اختبارات إعادة التشغيل بحجمين، دون تنبيه كاذب واحد خلال 300 دقيقة من الترافيك الطبيعي، وكشفت قواعد السجلات كل الأنماط، وربط الحملات صحيح في كل السيناريوهات المختبرة بما فيها الطُعوم.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عند هجوم هادئ بخمسة وعشرين اتصالًا في الدقيقة، لم تلتقط القواعد السلوكية هجمات حجب الخدمة والويب والبوتنت، بينما التقطها نموذج التعلّم الآلي كلها وحدد نوعها. هذا هو مكان الذكاء الاصطناعي في المنصة.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المنصة مبنية بـ FastAPI مع قاعدة مستقلة لكل منشأة، والنماذج بـ scikit-learn وTensorFlow، والوكلاء بـ Claude عبر استدعاء الأدوات، ووكيل الخادم بـ Python، والواجهة عربية بالكامل، ومعها 229 اختبارًا آليًا.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نعرض الحدود بصراحة: التقييم على بيانات مختبر معاد تشغيلها، وبعض الخصائص مصفّرة، ومؤشر التنبؤ إنذار فقط. والخطوة التالية تجربة ميدانية على منشأة حقيقية، وتقرير دوري، ونشر سحابي.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منصة التنبؤ بالهجمات السيبرانية: تكشف، وتتنبأ، وتحقق، وتقترح… والقرار لك. شكرًا لكم، ويسعدنا عرض المنصة مباشرة.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A0E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788920"/>
            <a:ext cx="10362895" cy="914400"/>
          </a:xfrm>
          <a:prstGeom prst="rect">
            <a:avLst/>
          </a:prstGeom>
          <a:noFill/>
          <a:ln/>
        </p:spPr>
        <p:txBody>
          <a:bodyPr wrap="square" rtlCol="0"/>
          <a:lstStyle>
            <a:lvl1pPr algn="ctr" indent="0" marL="0">
              <a:buNone/>
              <a:defRPr lang="en-US" sz="4400" b="1" dirty="0">
                <a:solidFill>
                  <a:schemeClr val="bg1"/>
                </a:solidFill>
              </a:defRPr>
            </a:lvl1pPr>
          </a:lstStyle>
          <a:p>
            <a:pPr algn="ctr" indent="0" marL="0">
              <a:buNone/>
            </a:pPr>
            <a:endParaRPr lang="en-US" sz="4400" dirty="0"/>
          </a:p>
        </p:txBody>
      </p:sp>
      <p:sp>
        <p:nvSpPr>
          <p:cNvPr id="3" name="Text 0"/>
          <p:cNvSpPr/>
          <p:nvPr>
            <p:ph idx="101" type="body" hasCustomPrompt="1"/>
          </p:nvPr>
        </p:nvSpPr>
        <p:spPr>
          <a:xfrm>
            <a:off x="914400" y="3749040"/>
            <a:ext cx="10362895" cy="548640"/>
          </a:xfrm>
          <a:prstGeom prst="rect">
            <a:avLst/>
          </a:prstGeom>
          <a:noFill/>
          <a:ln/>
        </p:spPr>
        <p:txBody>
          <a:bodyPr wrap="square" rtlCol="0"/>
          <a:lstStyle>
            <a:lvl1pPr algn="ctr" indent="0" marL="0">
              <a:buNone/>
              <a:defRPr lang="en-US" sz="2200" dirty="0">
                <a:solidFill>
                  <a:schemeClr val="bg2"/>
                </a:solidFill>
              </a:defRPr>
            </a:lvl1pPr>
          </a:lstStyle>
          <a:p>
            <a:pPr algn="ct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A0E18"/>
        </a:solidFill>
      </p:bgPr>
    </p:bg>
    <p:spTree>
      <p:nvGrpSpPr>
        <p:cNvPr id="1" name=""/>
        <p:cNvGrpSpPr/>
        <p:nvPr/>
      </p:nvGrpSpPr>
      <p:grpSpPr>
        <a:xfrm>
          <a:off x="0" y="0"/>
          <a:ext cx="0" cy="0"/>
          <a:chOff x="0" y="0"/>
          <a:chExt cx="0" cy="0"/>
        </a:xfrm>
      </p:grpSpPr>
      <p:sp>
        <p:nvSpPr>
          <p:cNvPr id="2" name="Text 0"/>
          <p:cNvSpPr/>
          <p:nvPr/>
        </p:nvSpPr>
        <p:spPr>
          <a:xfrm>
            <a:off x="7985455" y="6355080"/>
            <a:ext cx="3657600" cy="274320"/>
          </a:xfrm>
          <a:prstGeom prst="rect">
            <a:avLst/>
          </a:prstGeom>
          <a:noFill/>
          <a:ln/>
        </p:spPr>
        <p:txBody>
          <a:bodyPr wrap="square" rtlCol="0" anchor="ctr"/>
          <a:lstStyle/>
          <a:p>
            <a:pPr algn="r" indent="0" marL="0">
              <a:buNone/>
            </a:pPr>
            <a:r>
              <a:rPr lang="en-US" sz="1000" dirty="0">
                <a:solidFill>
                  <a:schemeClr val="accent6"/>
                </a:solidFill>
              </a:rPr>
              <a:t>التنبؤ بالهجمات السيبرانية</a:t>
            </a:r>
            <a:endParaRPr lang="en-US" sz="1000" dirty="0"/>
          </a:p>
        </p:txBody>
      </p:sp>
      <p:sp>
        <p:nvSpPr>
          <p:cNvPr id="3" name="Text 1"/>
          <p:cNvSpPr/>
          <p:nvPr>
            <p:ph idx="101" type="title" hasCustomPrompt="1"/>
          </p:nvPr>
        </p:nvSpPr>
        <p:spPr>
          <a:xfrm>
            <a:off x="548640" y="365760"/>
            <a:ext cx="11094415" cy="731520"/>
          </a:xfrm>
          <a:prstGeom prst="rect">
            <a:avLst/>
          </a:prstGeom>
          <a:noFill/>
          <a:ln/>
        </p:spPr>
        <p:txBody>
          <a:bodyPr wrap="square" rtlCol="0"/>
          <a:lstStyle>
            <a:lvl1pPr algn="r" indent="0" marL="0">
              <a:buNone/>
              <a:defRPr lang="en-US" sz="3400" b="1" dirty="0">
                <a:solidFill>
                  <a:schemeClr val="bg1"/>
                </a:solidFill>
              </a:defRPr>
            </a:lvl1pPr>
          </a:lstStyle>
          <a:p>
            <a:pPr algn="r" indent="0" marL="0">
              <a:buNone/>
            </a:pPr>
            <a:endParaRPr lang="en-US" sz="3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درع">    </p:cNvPr>
          <p:cNvPicPr>
            <a:picLocks noChangeAspect="1"/>
          </p:cNvPicPr>
          <p:nvPr/>
        </p:nvPicPr>
        <p:blipFill>
          <a:blip r:embed="rId1"/>
          <a:stretch>
            <a:fillRect/>
          </a:stretch>
        </p:blipFill>
        <p:spPr>
          <a:xfrm>
            <a:off x="5410048" y="1234440"/>
            <a:ext cx="1371600" cy="1371600"/>
          </a:xfrm>
          <a:prstGeom prst="rect">
            <a:avLst/>
          </a:prstGeom>
        </p:spPr>
      </p:pic>
      <p:sp>
        <p:nvSpPr>
          <p:cNvPr id="3" name="Text 0"/>
          <p:cNvSpPr/>
          <p:nvPr>
            <p:ph idx="100" type="title" hasCustomPrompt="1"/>
          </p:nvPr>
        </p:nvSpPr>
        <p:spPr>
          <a:xfrm>
            <a:off x="914400" y="2788920"/>
            <a:ext cx="10362895" cy="914400"/>
          </a:xfrm>
          <a:prstGeom prst="rect">
            <a:avLst/>
          </a:prstGeom>
          <a:noFill/>
          <a:ln/>
        </p:spPr>
        <p:txBody>
          <a:bodyPr wrap="square" rtlCol="0" anchor="ctr"/>
          <a:lstStyle/>
          <a:p>
            <a:pPr rtl="1" algn="ctr" indent="0" marL="0">
              <a:buNone/>
            </a:pPr>
            <a:r>
              <a:rPr lang="en-US" sz="4400" b="1" dirty="0">
                <a:solidFill>
                  <a:schemeClr val="bg1"/>
                </a:solidFill>
              </a:rPr>
              <a:t>التنبؤ بالهجمات السيبرانية</a:t>
            </a:r>
            <a:endParaRPr lang="en-US" sz="4400" dirty="0"/>
          </a:p>
        </p:txBody>
      </p:sp>
      <p:sp>
        <p:nvSpPr>
          <p:cNvPr id="4" name="Text 0"/>
          <p:cNvSpPr/>
          <p:nvPr>
            <p:ph idx="101" type="body" hasCustomPrompt="1"/>
          </p:nvPr>
        </p:nvSpPr>
        <p:spPr>
          <a:xfrm>
            <a:off x="914400" y="3749040"/>
            <a:ext cx="10362895" cy="548640"/>
          </a:xfrm>
          <a:prstGeom prst="rect">
            <a:avLst/>
          </a:prstGeom>
          <a:noFill/>
          <a:ln/>
        </p:spPr>
        <p:txBody>
          <a:bodyPr wrap="square" rtlCol="0" anchor="t"/>
          <a:lstStyle/>
          <a:p>
            <a:pPr rtl="1" algn="ctr" indent="0" marL="0">
              <a:buNone/>
            </a:pPr>
            <a:r>
              <a:rPr lang="en-US" sz="2200" dirty="0">
                <a:solidFill>
                  <a:schemeClr val="bg2"/>
                </a:solidFill>
              </a:rPr>
              <a:t>فريق أمني ذكي لكل منشأة صغيرة</a:t>
            </a:r>
            <a:endParaRPr lang="en-US" sz="2200" dirty="0"/>
          </a:p>
        </p:txBody>
      </p:sp>
      <p:sp>
        <p:nvSpPr>
          <p:cNvPr id="5" name="Text 2"/>
          <p:cNvSpPr txBox="1"/>
          <p:nvPr/>
        </p:nvSpPr>
        <p:spPr>
          <a:xfrm>
            <a:off x="914400" y="4846320"/>
            <a:ext cx="10362895" cy="457200"/>
          </a:xfrm>
          <a:prstGeom prst="rect">
            <a:avLst/>
          </a:prstGeom>
          <a:noFill/>
          <a:ln/>
        </p:spPr>
        <p:txBody>
          <a:bodyPr wrap="square" lIns="0" tIns="0" rIns="0" bIns="0" rtlCol="0" anchor="t"/>
          <a:lstStyle/>
          <a:p>
            <a:pPr rtl="1" algn="ctr" indent="0" marL="0">
              <a:buNone/>
            </a:pPr>
            <a:r>
              <a:rPr lang="ar-SA" altLang="en-US" sz="1800" b="1" dirty="0">
                <a:solidFill>
                  <a:schemeClr val="accent2"/>
                </a:solidFill>
              </a:rPr>
              <a:t>تكشف · تتنبأ · تحقق · تقترح … والقرار لك</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مهاجم واحد… وأبواب كثيرة</a:t>
            </a:r>
            <a:endParaRPr lang="en-US" sz="3400" dirty="0"/>
          </a:p>
        </p:txBody>
      </p:sp>
      <p:sp>
        <p:nvSpPr>
          <p:cNvPr id="3" name="card"/>
          <p:cNvSpPr/>
          <p:nvPr/>
        </p:nvSpPr>
        <p:spPr>
          <a:xfrm>
            <a:off x="8076895" y="1600200"/>
            <a:ext cx="3566160" cy="3749040"/>
          </a:xfrm>
          <a:prstGeom prst="roundRect">
            <a:avLst>
              <a:gd name="adj" fmla="val 3077"/>
            </a:avLst>
          </a:prstGeom>
          <a:solidFill>
            <a:schemeClr val="tx2"/>
          </a:solidFill>
          <a:ln w="12700">
            <a:solidFill>
              <a:schemeClr val="accent5"/>
            </a:solidFill>
            <a:prstDash val="solid"/>
          </a:ln>
        </p:spPr>
      </p:sp>
      <p:sp>
        <p:nvSpPr>
          <p:cNvPr id="4" name="icon-circle"/>
          <p:cNvSpPr/>
          <p:nvPr/>
        </p:nvSpPr>
        <p:spPr>
          <a:xfrm>
            <a:off x="10545775" y="1920240"/>
            <a:ext cx="777240" cy="777240"/>
          </a:xfrm>
          <a:prstGeom prst="ellipse">
            <a:avLst/>
          </a:prstGeom>
          <a:solidFill>
            <a:schemeClr val="tx1"/>
          </a:solidFill>
          <a:ln w="19050">
            <a:solidFill>
              <a:schemeClr val="accent3"/>
            </a:solidFill>
            <a:prstDash val="solid"/>
          </a:ln>
        </p:spPr>
      </p:sp>
      <p:pic>
        <p:nvPicPr>
          <p:cNvPr id="5" name="icon" descr="FaUserSecret">    </p:cNvPr>
          <p:cNvPicPr>
            <a:picLocks noChangeAspect="1"/>
          </p:cNvPicPr>
          <p:nvPr/>
        </p:nvPicPr>
        <p:blipFill>
          <a:blip r:embed="rId1"/>
          <a:stretch>
            <a:fillRect/>
          </a:stretch>
        </p:blipFill>
        <p:spPr>
          <a:xfrm>
            <a:off x="10740085" y="2114550"/>
            <a:ext cx="388620" cy="388620"/>
          </a:xfrm>
          <a:prstGeom prst="rect">
            <a:avLst/>
          </a:prstGeom>
        </p:spPr>
      </p:pic>
      <p:sp>
        <p:nvSpPr>
          <p:cNvPr id="6" name="Text 3"/>
          <p:cNvSpPr txBox="1"/>
          <p:nvPr/>
        </p:nvSpPr>
        <p:spPr>
          <a:xfrm>
            <a:off x="8396935" y="2926080"/>
            <a:ext cx="2926080" cy="457200"/>
          </a:xfrm>
          <a:prstGeom prst="rect">
            <a:avLst/>
          </a:prstGeom>
          <a:noFill/>
          <a:ln/>
        </p:spPr>
        <p:txBody>
          <a:bodyPr wrap="square" lIns="0" tIns="0" rIns="0" bIns="0" rtlCol="0" anchor="t"/>
          <a:lstStyle/>
          <a:p>
            <a:pPr rtl="1" algn="r" indent="0" marL="0">
              <a:buNone/>
            </a:pPr>
            <a:r>
              <a:rPr lang="ar-SA" altLang="en-US" sz="2200" b="1" dirty="0">
                <a:solidFill>
                  <a:schemeClr val="bg1"/>
                </a:solidFill>
              </a:rPr>
              <a:t>لا فريق أمني</a:t>
            </a:r>
            <a:endParaRPr lang="ar-SA" sz="2200" dirty="0"/>
          </a:p>
        </p:txBody>
      </p:sp>
      <p:sp>
        <p:nvSpPr>
          <p:cNvPr id="7" name="Text 4"/>
          <p:cNvSpPr txBox="1"/>
          <p:nvPr/>
        </p:nvSpPr>
        <p:spPr>
          <a:xfrm>
            <a:off x="8396935" y="3520440"/>
            <a:ext cx="2926080" cy="1645920"/>
          </a:xfrm>
          <a:prstGeom prst="rect">
            <a:avLst/>
          </a:prstGeom>
          <a:noFill/>
          <a:ln/>
        </p:spPr>
        <p:txBody>
          <a:bodyPr wrap="square" lIns="0" tIns="0" rIns="0" bIns="0" rtlCol="0" anchor="t"/>
          <a:lstStyle/>
          <a:p>
            <a:pPr rtl="1" algn="r" indent="0" marL="0">
              <a:buNone/>
            </a:pPr>
            <a:r>
              <a:rPr lang="ar-SA" altLang="en-US" sz="1600" dirty="0">
                <a:solidFill>
                  <a:schemeClr val="bg2"/>
                </a:solidFill>
              </a:rPr>
              <a:t>المنشأة الصغيرة لا تملك محللًا يراقب على مدار الساعة، ولا ميزانية لمركز عمليات أمنية.</a:t>
            </a:r>
            <a:endParaRPr lang="ar-SA" sz="1600" dirty="0"/>
          </a:p>
        </p:txBody>
      </p:sp>
      <p:sp>
        <p:nvSpPr>
          <p:cNvPr id="8" name="card"/>
          <p:cNvSpPr/>
          <p:nvPr/>
        </p:nvSpPr>
        <p:spPr>
          <a:xfrm>
            <a:off x="4314139" y="1600200"/>
            <a:ext cx="3566160" cy="3749040"/>
          </a:xfrm>
          <a:prstGeom prst="roundRect">
            <a:avLst>
              <a:gd name="adj" fmla="val 3077"/>
            </a:avLst>
          </a:prstGeom>
          <a:solidFill>
            <a:schemeClr val="tx2"/>
          </a:solidFill>
          <a:ln w="12700">
            <a:solidFill>
              <a:schemeClr val="accent5"/>
            </a:solidFill>
            <a:prstDash val="solid"/>
          </a:ln>
        </p:spPr>
      </p:sp>
      <p:sp>
        <p:nvSpPr>
          <p:cNvPr id="9" name="icon-circle"/>
          <p:cNvSpPr/>
          <p:nvPr/>
        </p:nvSpPr>
        <p:spPr>
          <a:xfrm>
            <a:off x="6783019" y="1920240"/>
            <a:ext cx="777240" cy="777240"/>
          </a:xfrm>
          <a:prstGeom prst="ellipse">
            <a:avLst/>
          </a:prstGeom>
          <a:solidFill>
            <a:schemeClr val="tx1"/>
          </a:solidFill>
          <a:ln w="19050">
            <a:solidFill>
              <a:schemeClr val="accent3"/>
            </a:solidFill>
            <a:prstDash val="solid"/>
          </a:ln>
        </p:spPr>
      </p:sp>
      <p:pic>
        <p:nvPicPr>
          <p:cNvPr id="10" name="icon" descr="FaDoorOpen">    </p:cNvPr>
          <p:cNvPicPr>
            <a:picLocks noChangeAspect="1"/>
          </p:cNvPicPr>
          <p:nvPr/>
        </p:nvPicPr>
        <p:blipFill>
          <a:blip r:embed="rId2"/>
          <a:stretch>
            <a:fillRect/>
          </a:stretch>
        </p:blipFill>
        <p:spPr>
          <a:xfrm>
            <a:off x="6977329" y="2114550"/>
            <a:ext cx="388620" cy="388620"/>
          </a:xfrm>
          <a:prstGeom prst="rect">
            <a:avLst/>
          </a:prstGeom>
        </p:spPr>
      </p:pic>
      <p:sp>
        <p:nvSpPr>
          <p:cNvPr id="11" name="Text 7"/>
          <p:cNvSpPr txBox="1"/>
          <p:nvPr/>
        </p:nvSpPr>
        <p:spPr>
          <a:xfrm>
            <a:off x="4634179" y="2926080"/>
            <a:ext cx="2926080" cy="457200"/>
          </a:xfrm>
          <a:prstGeom prst="rect">
            <a:avLst/>
          </a:prstGeom>
          <a:noFill/>
          <a:ln/>
        </p:spPr>
        <p:txBody>
          <a:bodyPr wrap="square" lIns="0" tIns="0" rIns="0" bIns="0" rtlCol="0" anchor="t"/>
          <a:lstStyle/>
          <a:p>
            <a:pPr rtl="1" algn="r" indent="0" marL="0">
              <a:buNone/>
            </a:pPr>
            <a:r>
              <a:rPr lang="ar-SA" altLang="en-US" sz="2200" b="1" dirty="0">
                <a:solidFill>
                  <a:schemeClr val="bg1"/>
                </a:solidFill>
              </a:rPr>
              <a:t>هجوم متعدد المراحل</a:t>
            </a:r>
            <a:endParaRPr lang="ar-SA" sz="2200" dirty="0"/>
          </a:p>
        </p:txBody>
      </p:sp>
      <p:sp>
        <p:nvSpPr>
          <p:cNvPr id="12" name="Text 8"/>
          <p:cNvSpPr txBox="1"/>
          <p:nvPr/>
        </p:nvSpPr>
        <p:spPr>
          <a:xfrm>
            <a:off x="4634179" y="3520440"/>
            <a:ext cx="2926080" cy="1645920"/>
          </a:xfrm>
          <a:prstGeom prst="rect">
            <a:avLst/>
          </a:prstGeom>
          <a:noFill/>
          <a:ln/>
        </p:spPr>
        <p:txBody>
          <a:bodyPr wrap="square" lIns="0" tIns="0" rIns="0" bIns="0" rtlCol="0" anchor="t"/>
          <a:lstStyle/>
          <a:p>
            <a:pPr rtl="1" algn="r" indent="0" marL="0">
              <a:buNone/>
            </a:pPr>
            <a:r>
              <a:rPr lang="ar-SA" altLang="en-US" sz="1600" dirty="0">
                <a:solidFill>
                  <a:schemeClr val="bg2"/>
                </a:solidFill>
              </a:rPr>
              <a:t>يفحص المهاجم الخادم، ثم يبحث في الموقع عن ملف مكشوف، ثم يحاول الدخول.</a:t>
            </a:r>
            <a:endParaRPr lang="ar-SA" sz="1600" dirty="0"/>
          </a:p>
        </p:txBody>
      </p:sp>
      <p:sp>
        <p:nvSpPr>
          <p:cNvPr id="13" name="card"/>
          <p:cNvSpPr/>
          <p:nvPr/>
        </p:nvSpPr>
        <p:spPr>
          <a:xfrm>
            <a:off x="551383" y="1600200"/>
            <a:ext cx="3566160" cy="3749040"/>
          </a:xfrm>
          <a:prstGeom prst="roundRect">
            <a:avLst>
              <a:gd name="adj" fmla="val 3077"/>
            </a:avLst>
          </a:prstGeom>
          <a:solidFill>
            <a:schemeClr val="tx2"/>
          </a:solidFill>
          <a:ln w="12700">
            <a:solidFill>
              <a:schemeClr val="accent5"/>
            </a:solidFill>
            <a:prstDash val="solid"/>
          </a:ln>
        </p:spPr>
      </p:sp>
      <p:sp>
        <p:nvSpPr>
          <p:cNvPr id="14" name="icon-circle"/>
          <p:cNvSpPr/>
          <p:nvPr/>
        </p:nvSpPr>
        <p:spPr>
          <a:xfrm>
            <a:off x="3020263" y="1920240"/>
            <a:ext cx="777240" cy="777240"/>
          </a:xfrm>
          <a:prstGeom prst="ellipse">
            <a:avLst/>
          </a:prstGeom>
          <a:solidFill>
            <a:schemeClr val="tx1"/>
          </a:solidFill>
          <a:ln w="19050">
            <a:solidFill>
              <a:schemeClr val="accent3"/>
            </a:solidFill>
            <a:prstDash val="solid"/>
          </a:ln>
        </p:spPr>
      </p:sp>
      <p:pic>
        <p:nvPicPr>
          <p:cNvPr id="15" name="icon" descr="FaPuzzlePiece">    </p:cNvPr>
          <p:cNvPicPr>
            <a:picLocks noChangeAspect="1"/>
          </p:cNvPicPr>
          <p:nvPr/>
        </p:nvPicPr>
        <p:blipFill>
          <a:blip r:embed="rId3"/>
          <a:stretch>
            <a:fillRect/>
          </a:stretch>
        </p:blipFill>
        <p:spPr>
          <a:xfrm>
            <a:off x="3214573" y="2114550"/>
            <a:ext cx="388620" cy="388620"/>
          </a:xfrm>
          <a:prstGeom prst="rect">
            <a:avLst/>
          </a:prstGeom>
        </p:spPr>
      </p:pic>
      <p:sp>
        <p:nvSpPr>
          <p:cNvPr id="16" name="Text 11"/>
          <p:cNvSpPr txBox="1"/>
          <p:nvPr/>
        </p:nvSpPr>
        <p:spPr>
          <a:xfrm>
            <a:off x="871423" y="2926080"/>
            <a:ext cx="2926080" cy="457200"/>
          </a:xfrm>
          <a:prstGeom prst="rect">
            <a:avLst/>
          </a:prstGeom>
          <a:noFill/>
          <a:ln/>
        </p:spPr>
        <p:txBody>
          <a:bodyPr wrap="square" lIns="0" tIns="0" rIns="0" bIns="0" rtlCol="0" anchor="t"/>
          <a:lstStyle/>
          <a:p>
            <a:pPr rtl="1" algn="r" indent="0" marL="0">
              <a:buNone/>
            </a:pPr>
            <a:r>
              <a:rPr lang="ar-SA" altLang="en-US" sz="2200" b="1" dirty="0">
                <a:solidFill>
                  <a:schemeClr val="bg1"/>
                </a:solidFill>
              </a:rPr>
              <a:t>أدوات متفرقة</a:t>
            </a:r>
            <a:endParaRPr lang="ar-SA" sz="2200" dirty="0"/>
          </a:p>
        </p:txBody>
      </p:sp>
      <p:sp>
        <p:nvSpPr>
          <p:cNvPr id="17" name="Text 12"/>
          <p:cNvSpPr txBox="1"/>
          <p:nvPr/>
        </p:nvSpPr>
        <p:spPr>
          <a:xfrm>
            <a:off x="871423" y="3520440"/>
            <a:ext cx="2926080" cy="1645920"/>
          </a:xfrm>
          <a:prstGeom prst="rect">
            <a:avLst/>
          </a:prstGeom>
          <a:noFill/>
          <a:ln/>
        </p:spPr>
        <p:txBody>
          <a:bodyPr wrap="square" lIns="0" tIns="0" rIns="0" bIns="0" rtlCol="0" anchor="t"/>
          <a:lstStyle/>
          <a:p>
            <a:pPr rtl="1" algn="r" indent="0" marL="0">
              <a:buNone/>
            </a:pPr>
            <a:r>
              <a:rPr lang="ar-SA" altLang="en-US" sz="1600" dirty="0">
                <a:solidFill>
                  <a:schemeClr val="bg2"/>
                </a:solidFill>
              </a:rPr>
              <a:t>كل أداة ترى جزءًا من الصورة وتطلق تنبيهاتها وحدها، فيضيع الربط ويتأخر القرار.</a:t>
            </a:r>
            <a:endParaRPr lang="ar-SA" sz="16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الحل: من الإشارة إلى القرار في مسار واحد</a:t>
            </a:r>
            <a:endParaRPr lang="en-US" sz="3400" dirty="0"/>
          </a:p>
        </p:txBody>
      </p:sp>
      <p:sp>
        <p:nvSpPr>
          <p:cNvPr id="3" name="card"/>
          <p:cNvSpPr/>
          <p:nvPr/>
        </p:nvSpPr>
        <p:spPr>
          <a:xfrm>
            <a:off x="9768535" y="2103120"/>
            <a:ext cx="1874520" cy="2651760"/>
          </a:xfrm>
          <a:prstGeom prst="roundRect">
            <a:avLst>
              <a:gd name="adj" fmla="val 5854"/>
            </a:avLst>
          </a:prstGeom>
          <a:solidFill>
            <a:schemeClr val="tx2"/>
          </a:solidFill>
          <a:ln w="12700">
            <a:solidFill>
              <a:schemeClr val="accent5"/>
            </a:solidFill>
            <a:prstDash val="solid"/>
          </a:ln>
        </p:spPr>
      </p:sp>
      <p:sp>
        <p:nvSpPr>
          <p:cNvPr id="4" name="icon-circle"/>
          <p:cNvSpPr/>
          <p:nvPr/>
        </p:nvSpPr>
        <p:spPr>
          <a:xfrm>
            <a:off x="10321747" y="2377440"/>
            <a:ext cx="768096" cy="768096"/>
          </a:xfrm>
          <a:prstGeom prst="ellipse">
            <a:avLst/>
          </a:prstGeom>
          <a:solidFill>
            <a:schemeClr val="tx1"/>
          </a:solidFill>
          <a:ln w="19050">
            <a:solidFill>
              <a:schemeClr val="accent1"/>
            </a:solidFill>
            <a:prstDash val="solid"/>
          </a:ln>
        </p:spPr>
      </p:sp>
      <p:pic>
        <p:nvPicPr>
          <p:cNvPr id="5" name="icon" descr="FaNetworkWired">    </p:cNvPr>
          <p:cNvPicPr>
            <a:picLocks noChangeAspect="1"/>
          </p:cNvPicPr>
          <p:nvPr/>
        </p:nvPicPr>
        <p:blipFill>
          <a:blip r:embed="rId1"/>
          <a:stretch>
            <a:fillRect/>
          </a:stretch>
        </p:blipFill>
        <p:spPr>
          <a:xfrm>
            <a:off x="10513771" y="2569464"/>
            <a:ext cx="384048" cy="384048"/>
          </a:xfrm>
          <a:prstGeom prst="rect">
            <a:avLst/>
          </a:prstGeom>
        </p:spPr>
      </p:pic>
      <p:sp>
        <p:nvSpPr>
          <p:cNvPr id="6" name="Text 3"/>
          <p:cNvSpPr txBox="1"/>
          <p:nvPr/>
        </p:nvSpPr>
        <p:spPr>
          <a:xfrm>
            <a:off x="9905695" y="3337560"/>
            <a:ext cx="1600200" cy="411480"/>
          </a:xfrm>
          <a:prstGeom prst="rect">
            <a:avLst/>
          </a:prstGeom>
          <a:noFill/>
          <a:ln/>
        </p:spPr>
        <p:txBody>
          <a:bodyPr wrap="square" lIns="0" tIns="0" rIns="0" bIns="0" rtlCol="0" anchor="t"/>
          <a:lstStyle/>
          <a:p>
            <a:pPr rtl="1" algn="ctr" indent="0" marL="0">
              <a:buNone/>
            </a:pPr>
            <a:r>
              <a:rPr lang="ar-SA" altLang="en-US" sz="1900" b="1" dirty="0">
                <a:solidFill>
                  <a:schemeClr val="bg1"/>
                </a:solidFill>
              </a:rPr>
              <a:t>مصادرك</a:t>
            </a:r>
            <a:endParaRPr lang="ar-SA" sz="1900" dirty="0"/>
          </a:p>
        </p:txBody>
      </p:sp>
      <p:sp>
        <p:nvSpPr>
          <p:cNvPr id="7" name="Text 4"/>
          <p:cNvSpPr txBox="1"/>
          <p:nvPr/>
        </p:nvSpPr>
        <p:spPr>
          <a:xfrm>
            <a:off x="9905695" y="3794760"/>
            <a:ext cx="1600200" cy="822960"/>
          </a:xfrm>
          <a:prstGeom prst="rect">
            <a:avLst/>
          </a:prstGeom>
          <a:noFill/>
          <a:ln/>
        </p:spPr>
        <p:txBody>
          <a:bodyPr wrap="square" lIns="0" tIns="0" rIns="0" bIns="0" rtlCol="0" anchor="t"/>
          <a:lstStyle/>
          <a:p>
            <a:pPr rtl="1" algn="ctr" indent="0" marL="0">
              <a:buNone/>
            </a:pPr>
            <a:r>
              <a:rPr lang="ar-SA" altLang="en-US" sz="1400" dirty="0">
                <a:solidFill>
                  <a:schemeClr val="bg2"/>
                </a:solidFill>
              </a:rPr>
              <a:t>سجلات، وكيل خادم، مراقبة خارجية</a:t>
            </a:r>
            <a:endParaRPr lang="ar-SA" sz="1400" dirty="0"/>
          </a:p>
        </p:txBody>
      </p:sp>
      <p:pic>
        <p:nvPicPr>
          <p:cNvPr id="8" name="arrow" descr="سهم">    </p:cNvPr>
          <p:cNvPicPr>
            <a:picLocks noChangeAspect="1"/>
          </p:cNvPicPr>
          <p:nvPr/>
        </p:nvPicPr>
        <p:blipFill>
          <a:blip r:embed="rId2"/>
          <a:stretch>
            <a:fillRect/>
          </a:stretch>
        </p:blipFill>
        <p:spPr>
          <a:xfrm>
            <a:off x="9393631" y="3291840"/>
            <a:ext cx="320040" cy="320040"/>
          </a:xfrm>
          <a:prstGeom prst="rect">
            <a:avLst/>
          </a:prstGeom>
        </p:spPr>
      </p:pic>
      <p:sp>
        <p:nvSpPr>
          <p:cNvPr id="9" name="card"/>
          <p:cNvSpPr/>
          <p:nvPr/>
        </p:nvSpPr>
        <p:spPr>
          <a:xfrm>
            <a:off x="7464247" y="2103120"/>
            <a:ext cx="1874520" cy="2651760"/>
          </a:xfrm>
          <a:prstGeom prst="roundRect">
            <a:avLst>
              <a:gd name="adj" fmla="val 5854"/>
            </a:avLst>
          </a:prstGeom>
          <a:solidFill>
            <a:schemeClr val="tx2"/>
          </a:solidFill>
          <a:ln w="12700">
            <a:solidFill>
              <a:schemeClr val="accent5"/>
            </a:solidFill>
            <a:prstDash val="solid"/>
          </a:ln>
        </p:spPr>
      </p:sp>
      <p:sp>
        <p:nvSpPr>
          <p:cNvPr id="10" name="icon-circle"/>
          <p:cNvSpPr/>
          <p:nvPr/>
        </p:nvSpPr>
        <p:spPr>
          <a:xfrm>
            <a:off x="8017459" y="2377440"/>
            <a:ext cx="768096" cy="768096"/>
          </a:xfrm>
          <a:prstGeom prst="ellipse">
            <a:avLst/>
          </a:prstGeom>
          <a:solidFill>
            <a:schemeClr val="tx1"/>
          </a:solidFill>
          <a:ln w="19050">
            <a:solidFill>
              <a:schemeClr val="accent1"/>
            </a:solidFill>
            <a:prstDash val="solid"/>
          </a:ln>
        </p:spPr>
      </p:sp>
      <p:pic>
        <p:nvPicPr>
          <p:cNvPr id="11" name="icon" descr="FaMagnifyingGlass">    </p:cNvPr>
          <p:cNvPicPr>
            <a:picLocks noChangeAspect="1"/>
          </p:cNvPicPr>
          <p:nvPr/>
        </p:nvPicPr>
        <p:blipFill>
          <a:blip r:embed="rId3"/>
          <a:stretch>
            <a:fillRect/>
          </a:stretch>
        </p:blipFill>
        <p:spPr>
          <a:xfrm>
            <a:off x="8209483" y="2569464"/>
            <a:ext cx="384048" cy="384048"/>
          </a:xfrm>
          <a:prstGeom prst="rect">
            <a:avLst/>
          </a:prstGeom>
        </p:spPr>
      </p:pic>
      <p:sp>
        <p:nvSpPr>
          <p:cNvPr id="12" name="Text 7"/>
          <p:cNvSpPr txBox="1"/>
          <p:nvPr/>
        </p:nvSpPr>
        <p:spPr>
          <a:xfrm>
            <a:off x="7601407" y="3337560"/>
            <a:ext cx="1600200" cy="411480"/>
          </a:xfrm>
          <a:prstGeom prst="rect">
            <a:avLst/>
          </a:prstGeom>
          <a:noFill/>
          <a:ln/>
        </p:spPr>
        <p:txBody>
          <a:bodyPr wrap="square" lIns="0" tIns="0" rIns="0" bIns="0" rtlCol="0" anchor="t"/>
          <a:lstStyle/>
          <a:p>
            <a:pPr rtl="1" algn="ctr" indent="0" marL="0">
              <a:buNone/>
            </a:pPr>
            <a:r>
              <a:rPr lang="ar-SA" altLang="en-US" sz="1900" b="1" dirty="0">
                <a:solidFill>
                  <a:schemeClr val="bg1"/>
                </a:solidFill>
              </a:rPr>
              <a:t>الكشف</a:t>
            </a:r>
            <a:endParaRPr lang="ar-SA" sz="1900" dirty="0"/>
          </a:p>
        </p:txBody>
      </p:sp>
      <p:sp>
        <p:nvSpPr>
          <p:cNvPr id="13" name="Text 8"/>
          <p:cNvSpPr txBox="1"/>
          <p:nvPr/>
        </p:nvSpPr>
        <p:spPr>
          <a:xfrm>
            <a:off x="7601407" y="3794760"/>
            <a:ext cx="1600200" cy="822960"/>
          </a:xfrm>
          <a:prstGeom prst="rect">
            <a:avLst/>
          </a:prstGeom>
          <a:noFill/>
          <a:ln/>
        </p:spPr>
        <p:txBody>
          <a:bodyPr wrap="square" lIns="0" tIns="0" rIns="0" bIns="0" rtlCol="0" anchor="t"/>
          <a:lstStyle/>
          <a:p>
            <a:pPr rtl="1" algn="ctr" indent="0" marL="0">
              <a:buNone/>
            </a:pPr>
            <a:r>
              <a:rPr lang="ar-SA" altLang="en-US" sz="1400" dirty="0">
                <a:solidFill>
                  <a:schemeClr val="bg2"/>
                </a:solidFill>
              </a:rPr>
              <a:t>نماذج تعلّم آلي + قواعد سلوكية</a:t>
            </a:r>
            <a:endParaRPr lang="ar-SA" sz="1400" dirty="0"/>
          </a:p>
        </p:txBody>
      </p:sp>
      <p:pic>
        <p:nvPicPr>
          <p:cNvPr id="14" name="arrow" descr="سهم">    </p:cNvPr>
          <p:cNvPicPr>
            <a:picLocks noChangeAspect="1"/>
          </p:cNvPicPr>
          <p:nvPr/>
        </p:nvPicPr>
        <p:blipFill>
          <a:blip r:embed="rId4"/>
          <a:stretch>
            <a:fillRect/>
          </a:stretch>
        </p:blipFill>
        <p:spPr>
          <a:xfrm>
            <a:off x="7089343" y="3291840"/>
            <a:ext cx="320040" cy="320040"/>
          </a:xfrm>
          <a:prstGeom prst="rect">
            <a:avLst/>
          </a:prstGeom>
        </p:spPr>
      </p:pic>
      <p:sp>
        <p:nvSpPr>
          <p:cNvPr id="15" name="card"/>
          <p:cNvSpPr/>
          <p:nvPr/>
        </p:nvSpPr>
        <p:spPr>
          <a:xfrm>
            <a:off x="5159959" y="2103120"/>
            <a:ext cx="1874520" cy="2651760"/>
          </a:xfrm>
          <a:prstGeom prst="roundRect">
            <a:avLst>
              <a:gd name="adj" fmla="val 5854"/>
            </a:avLst>
          </a:prstGeom>
          <a:solidFill>
            <a:schemeClr val="tx2"/>
          </a:solidFill>
          <a:ln w="12700">
            <a:solidFill>
              <a:schemeClr val="accent5"/>
            </a:solidFill>
            <a:prstDash val="solid"/>
          </a:ln>
        </p:spPr>
      </p:sp>
      <p:sp>
        <p:nvSpPr>
          <p:cNvPr id="16" name="icon-circle"/>
          <p:cNvSpPr/>
          <p:nvPr/>
        </p:nvSpPr>
        <p:spPr>
          <a:xfrm>
            <a:off x="5713171" y="2377440"/>
            <a:ext cx="768096" cy="768096"/>
          </a:xfrm>
          <a:prstGeom prst="ellipse">
            <a:avLst/>
          </a:prstGeom>
          <a:solidFill>
            <a:schemeClr val="tx1"/>
          </a:solidFill>
          <a:ln w="19050">
            <a:solidFill>
              <a:schemeClr val="accent1"/>
            </a:solidFill>
            <a:prstDash val="solid"/>
          </a:ln>
        </p:spPr>
      </p:sp>
      <p:pic>
        <p:nvPicPr>
          <p:cNvPr id="17" name="icon" descr="FaRobot">    </p:cNvPr>
          <p:cNvPicPr>
            <a:picLocks noChangeAspect="1"/>
          </p:cNvPicPr>
          <p:nvPr/>
        </p:nvPicPr>
        <p:blipFill>
          <a:blip r:embed="rId5"/>
          <a:stretch>
            <a:fillRect/>
          </a:stretch>
        </p:blipFill>
        <p:spPr>
          <a:xfrm>
            <a:off x="5905195" y="2569464"/>
            <a:ext cx="384048" cy="384048"/>
          </a:xfrm>
          <a:prstGeom prst="rect">
            <a:avLst/>
          </a:prstGeom>
        </p:spPr>
      </p:pic>
      <p:sp>
        <p:nvSpPr>
          <p:cNvPr id="18" name="Text 11"/>
          <p:cNvSpPr txBox="1"/>
          <p:nvPr/>
        </p:nvSpPr>
        <p:spPr>
          <a:xfrm>
            <a:off x="5297119" y="3337560"/>
            <a:ext cx="1600200" cy="411480"/>
          </a:xfrm>
          <a:prstGeom prst="rect">
            <a:avLst/>
          </a:prstGeom>
          <a:noFill/>
          <a:ln/>
        </p:spPr>
        <p:txBody>
          <a:bodyPr wrap="square" lIns="0" tIns="0" rIns="0" bIns="0" rtlCol="0" anchor="t"/>
          <a:lstStyle/>
          <a:p>
            <a:pPr rtl="1" algn="ctr" indent="0" marL="0">
              <a:buNone/>
            </a:pPr>
            <a:r>
              <a:rPr lang="ar-SA" altLang="en-US" sz="1900" b="1" dirty="0">
                <a:solidFill>
                  <a:schemeClr val="bg1"/>
                </a:solidFill>
              </a:rPr>
              <a:t>فريق الوكلاء</a:t>
            </a:r>
            <a:endParaRPr lang="ar-SA" sz="1900" dirty="0"/>
          </a:p>
        </p:txBody>
      </p:sp>
      <p:sp>
        <p:nvSpPr>
          <p:cNvPr id="19" name="Text 12"/>
          <p:cNvSpPr txBox="1"/>
          <p:nvPr/>
        </p:nvSpPr>
        <p:spPr>
          <a:xfrm>
            <a:off x="5297119" y="3794760"/>
            <a:ext cx="1600200" cy="822960"/>
          </a:xfrm>
          <a:prstGeom prst="rect">
            <a:avLst/>
          </a:prstGeom>
          <a:noFill/>
          <a:ln/>
        </p:spPr>
        <p:txBody>
          <a:bodyPr wrap="square" lIns="0" tIns="0" rIns="0" bIns="0" rtlCol="0" anchor="t"/>
          <a:lstStyle/>
          <a:p>
            <a:pPr rtl="1" algn="ctr" indent="0" marL="0">
              <a:buNone/>
            </a:pPr>
            <a:r>
              <a:rPr lang="ar-SA" altLang="en-US" sz="1400" dirty="0">
                <a:solidFill>
                  <a:schemeClr val="bg2"/>
                </a:solidFill>
              </a:rPr>
              <a:t>متخصصون ومنسّق يربط الحوادث</a:t>
            </a:r>
            <a:endParaRPr lang="ar-SA" sz="1400" dirty="0"/>
          </a:p>
        </p:txBody>
      </p:sp>
      <p:pic>
        <p:nvPicPr>
          <p:cNvPr id="20" name="arrow" descr="سهم">    </p:cNvPr>
          <p:cNvPicPr>
            <a:picLocks noChangeAspect="1"/>
          </p:cNvPicPr>
          <p:nvPr/>
        </p:nvPicPr>
        <p:blipFill>
          <a:blip r:embed="rId6"/>
          <a:stretch>
            <a:fillRect/>
          </a:stretch>
        </p:blipFill>
        <p:spPr>
          <a:xfrm>
            <a:off x="4785055" y="3291840"/>
            <a:ext cx="320040" cy="320040"/>
          </a:xfrm>
          <a:prstGeom prst="rect">
            <a:avLst/>
          </a:prstGeom>
        </p:spPr>
      </p:pic>
      <p:sp>
        <p:nvSpPr>
          <p:cNvPr id="21" name="card"/>
          <p:cNvSpPr/>
          <p:nvPr/>
        </p:nvSpPr>
        <p:spPr>
          <a:xfrm>
            <a:off x="2855671" y="2103120"/>
            <a:ext cx="1874520" cy="2651760"/>
          </a:xfrm>
          <a:prstGeom prst="roundRect">
            <a:avLst>
              <a:gd name="adj" fmla="val 5854"/>
            </a:avLst>
          </a:prstGeom>
          <a:solidFill>
            <a:schemeClr val="tx2"/>
          </a:solidFill>
          <a:ln w="12700">
            <a:solidFill>
              <a:schemeClr val="accent5"/>
            </a:solidFill>
            <a:prstDash val="solid"/>
          </a:ln>
        </p:spPr>
      </p:sp>
      <p:sp>
        <p:nvSpPr>
          <p:cNvPr id="22" name="icon-circle"/>
          <p:cNvSpPr/>
          <p:nvPr/>
        </p:nvSpPr>
        <p:spPr>
          <a:xfrm>
            <a:off x="3408883" y="2377440"/>
            <a:ext cx="768096" cy="768096"/>
          </a:xfrm>
          <a:prstGeom prst="ellipse">
            <a:avLst/>
          </a:prstGeom>
          <a:solidFill>
            <a:schemeClr val="tx1"/>
          </a:solidFill>
          <a:ln w="19050">
            <a:solidFill>
              <a:schemeClr val="accent2"/>
            </a:solidFill>
            <a:prstDash val="solid"/>
          </a:ln>
        </p:spPr>
      </p:sp>
      <p:pic>
        <p:nvPicPr>
          <p:cNvPr id="23" name="icon" descr="FaUserShield">    </p:cNvPr>
          <p:cNvPicPr>
            <a:picLocks noChangeAspect="1"/>
          </p:cNvPicPr>
          <p:nvPr/>
        </p:nvPicPr>
        <p:blipFill>
          <a:blip r:embed="rId7"/>
          <a:stretch>
            <a:fillRect/>
          </a:stretch>
        </p:blipFill>
        <p:spPr>
          <a:xfrm>
            <a:off x="3600907" y="2569464"/>
            <a:ext cx="384048" cy="384048"/>
          </a:xfrm>
          <a:prstGeom prst="rect">
            <a:avLst/>
          </a:prstGeom>
        </p:spPr>
      </p:pic>
      <p:sp>
        <p:nvSpPr>
          <p:cNvPr id="24" name="Text 15"/>
          <p:cNvSpPr txBox="1"/>
          <p:nvPr/>
        </p:nvSpPr>
        <p:spPr>
          <a:xfrm>
            <a:off x="2992831" y="3337560"/>
            <a:ext cx="1600200" cy="411480"/>
          </a:xfrm>
          <a:prstGeom prst="rect">
            <a:avLst/>
          </a:prstGeom>
          <a:noFill/>
          <a:ln/>
        </p:spPr>
        <p:txBody>
          <a:bodyPr wrap="square" lIns="0" tIns="0" rIns="0" bIns="0" rtlCol="0" anchor="t"/>
          <a:lstStyle/>
          <a:p>
            <a:pPr rtl="1" algn="ctr" indent="0" marL="0">
              <a:buNone/>
            </a:pPr>
            <a:r>
              <a:rPr lang="ar-SA" altLang="en-US" sz="1900" b="1" dirty="0">
                <a:solidFill>
                  <a:schemeClr val="bg1"/>
                </a:solidFill>
              </a:rPr>
              <a:t>قرارك</a:t>
            </a:r>
            <a:endParaRPr lang="ar-SA" sz="1900" dirty="0"/>
          </a:p>
        </p:txBody>
      </p:sp>
      <p:sp>
        <p:nvSpPr>
          <p:cNvPr id="25" name="Text 16"/>
          <p:cNvSpPr txBox="1"/>
          <p:nvPr/>
        </p:nvSpPr>
        <p:spPr>
          <a:xfrm>
            <a:off x="2992831" y="3794760"/>
            <a:ext cx="1600200" cy="822960"/>
          </a:xfrm>
          <a:prstGeom prst="rect">
            <a:avLst/>
          </a:prstGeom>
          <a:noFill/>
          <a:ln/>
        </p:spPr>
        <p:txBody>
          <a:bodyPr wrap="square" lIns="0" tIns="0" rIns="0" bIns="0" rtlCol="0" anchor="t"/>
          <a:lstStyle/>
          <a:p>
            <a:pPr rtl="1" algn="ctr" indent="0" marL="0">
              <a:buNone/>
            </a:pPr>
            <a:r>
              <a:rPr lang="ar-SA" altLang="en-US" sz="1400" dirty="0">
                <a:solidFill>
                  <a:schemeClr val="bg2"/>
                </a:solidFill>
              </a:rPr>
              <a:t>موافقة واحدة لكل مهاجم</a:t>
            </a:r>
            <a:endParaRPr lang="ar-SA" sz="1400" dirty="0"/>
          </a:p>
        </p:txBody>
      </p:sp>
      <p:pic>
        <p:nvPicPr>
          <p:cNvPr id="26" name="arrow" descr="سهم">    </p:cNvPr>
          <p:cNvPicPr>
            <a:picLocks noChangeAspect="1"/>
          </p:cNvPicPr>
          <p:nvPr/>
        </p:nvPicPr>
        <p:blipFill>
          <a:blip r:embed="rId8"/>
          <a:stretch>
            <a:fillRect/>
          </a:stretch>
        </p:blipFill>
        <p:spPr>
          <a:xfrm>
            <a:off x="2480767" y="3291840"/>
            <a:ext cx="320040" cy="320040"/>
          </a:xfrm>
          <a:prstGeom prst="rect">
            <a:avLst/>
          </a:prstGeom>
        </p:spPr>
      </p:pic>
      <p:sp>
        <p:nvSpPr>
          <p:cNvPr id="27" name="card"/>
          <p:cNvSpPr/>
          <p:nvPr/>
        </p:nvSpPr>
        <p:spPr>
          <a:xfrm>
            <a:off x="551383" y="2103120"/>
            <a:ext cx="1874520" cy="2651760"/>
          </a:xfrm>
          <a:prstGeom prst="roundRect">
            <a:avLst>
              <a:gd name="adj" fmla="val 5854"/>
            </a:avLst>
          </a:prstGeom>
          <a:solidFill>
            <a:schemeClr val="tx2"/>
          </a:solidFill>
          <a:ln w="12700">
            <a:solidFill>
              <a:schemeClr val="accent5"/>
            </a:solidFill>
            <a:prstDash val="solid"/>
          </a:ln>
        </p:spPr>
      </p:sp>
      <p:sp>
        <p:nvSpPr>
          <p:cNvPr id="28" name="icon-circle"/>
          <p:cNvSpPr/>
          <p:nvPr/>
        </p:nvSpPr>
        <p:spPr>
          <a:xfrm>
            <a:off x="1104595" y="2377440"/>
            <a:ext cx="768096" cy="768096"/>
          </a:xfrm>
          <a:prstGeom prst="ellipse">
            <a:avLst/>
          </a:prstGeom>
          <a:solidFill>
            <a:schemeClr val="tx1"/>
          </a:solidFill>
          <a:ln w="19050">
            <a:solidFill>
              <a:schemeClr val="accent2"/>
            </a:solidFill>
            <a:prstDash val="solid"/>
          </a:ln>
        </p:spPr>
      </p:sp>
      <p:pic>
        <p:nvPicPr>
          <p:cNvPr id="29" name="icon" descr="FaBolt">    </p:cNvPr>
          <p:cNvPicPr>
            <a:picLocks noChangeAspect="1"/>
          </p:cNvPicPr>
          <p:nvPr/>
        </p:nvPicPr>
        <p:blipFill>
          <a:blip r:embed="rId9"/>
          <a:stretch>
            <a:fillRect/>
          </a:stretch>
        </p:blipFill>
        <p:spPr>
          <a:xfrm>
            <a:off x="1296619" y="2569464"/>
            <a:ext cx="384048" cy="384048"/>
          </a:xfrm>
          <a:prstGeom prst="rect">
            <a:avLst/>
          </a:prstGeom>
        </p:spPr>
      </p:pic>
      <p:sp>
        <p:nvSpPr>
          <p:cNvPr id="30" name="Text 19"/>
          <p:cNvSpPr txBox="1"/>
          <p:nvPr/>
        </p:nvSpPr>
        <p:spPr>
          <a:xfrm>
            <a:off x="688543" y="3337560"/>
            <a:ext cx="1600200" cy="411480"/>
          </a:xfrm>
          <a:prstGeom prst="rect">
            <a:avLst/>
          </a:prstGeom>
          <a:noFill/>
          <a:ln/>
        </p:spPr>
        <p:txBody>
          <a:bodyPr wrap="square" lIns="0" tIns="0" rIns="0" bIns="0" rtlCol="0" anchor="t"/>
          <a:lstStyle/>
          <a:p>
            <a:pPr rtl="1" algn="ctr" indent="0" marL="0">
              <a:buNone/>
            </a:pPr>
            <a:r>
              <a:rPr lang="ar-SA" altLang="en-US" sz="1900" b="1" dirty="0">
                <a:solidFill>
                  <a:schemeClr val="bg1"/>
                </a:solidFill>
              </a:rPr>
              <a:t>التنفيذ</a:t>
            </a:r>
            <a:endParaRPr lang="ar-SA" sz="1900" dirty="0"/>
          </a:p>
        </p:txBody>
      </p:sp>
      <p:sp>
        <p:nvSpPr>
          <p:cNvPr id="31" name="Text 20"/>
          <p:cNvSpPr txBox="1"/>
          <p:nvPr/>
        </p:nvSpPr>
        <p:spPr>
          <a:xfrm>
            <a:off x="688543" y="3794760"/>
            <a:ext cx="1600200" cy="822960"/>
          </a:xfrm>
          <a:prstGeom prst="rect">
            <a:avLst/>
          </a:prstGeom>
          <a:noFill/>
          <a:ln/>
        </p:spPr>
        <p:txBody>
          <a:bodyPr wrap="square" lIns="0" tIns="0" rIns="0" bIns="0" rtlCol="0" anchor="t"/>
          <a:lstStyle/>
          <a:p>
            <a:pPr rtl="1" algn="ctr" indent="0" marL="0">
              <a:buNone/>
            </a:pPr>
            <a:r>
              <a:rPr lang="ar-SA" altLang="en-US" sz="1400" dirty="0">
                <a:solidFill>
                  <a:schemeClr val="bg2"/>
                </a:solidFill>
              </a:rPr>
              <a:t>أمر موقّع إلى خادمك</a:t>
            </a:r>
            <a:endParaRPr lang="ar-SA" sz="1400" dirty="0"/>
          </a:p>
        </p:txBody>
      </p:sp>
      <p:sp>
        <p:nvSpPr>
          <p:cNvPr id="32" name="Text 21"/>
          <p:cNvSpPr txBox="1"/>
          <p:nvPr/>
        </p:nvSpPr>
        <p:spPr>
          <a:xfrm>
            <a:off x="548640" y="5212080"/>
            <a:ext cx="11094415" cy="457200"/>
          </a:xfrm>
          <a:prstGeom prst="rect">
            <a:avLst/>
          </a:prstGeom>
          <a:noFill/>
          <a:ln/>
        </p:spPr>
        <p:txBody>
          <a:bodyPr wrap="square" lIns="0" tIns="0" rIns="0" bIns="0" rtlCol="0" anchor="t"/>
          <a:lstStyle/>
          <a:p>
            <a:pPr rtl="1" algn="ctr" indent="0" marL="0">
              <a:buNone/>
            </a:pPr>
            <a:r>
              <a:rPr lang="ar-SA" altLang="en-US" sz="1800" dirty="0">
                <a:solidFill>
                  <a:schemeClr val="accent2"/>
                </a:solidFill>
              </a:rPr>
              <a:t>لا شيء يُنفَّذ على أنظمة المنشأة دون موافقة صاحبها، وكل منشأة معزولة تمامًا عن غيرها.</a:t>
            </a:r>
            <a:endParaRPr lang="ar-SA" sz="18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ثلاثة مصادر تُربط في دقائق</a:t>
            </a:r>
            <a:endParaRPr lang="en-US" sz="3400" dirty="0"/>
          </a:p>
        </p:txBody>
      </p:sp>
      <p:sp>
        <p:nvSpPr>
          <p:cNvPr id="3" name="card"/>
          <p:cNvSpPr/>
          <p:nvPr/>
        </p:nvSpPr>
        <p:spPr>
          <a:xfrm>
            <a:off x="8076895" y="1417320"/>
            <a:ext cx="3566160" cy="3840480"/>
          </a:xfrm>
          <a:prstGeom prst="roundRect">
            <a:avLst>
              <a:gd name="adj" fmla="val 3077"/>
            </a:avLst>
          </a:prstGeom>
          <a:solidFill>
            <a:schemeClr val="tx2"/>
          </a:solidFill>
          <a:ln w="12700">
            <a:solidFill>
              <a:schemeClr val="accent5"/>
            </a:solidFill>
            <a:prstDash val="solid"/>
          </a:ln>
        </p:spPr>
      </p:sp>
      <p:sp>
        <p:nvSpPr>
          <p:cNvPr id="4" name="icon-circle"/>
          <p:cNvSpPr/>
          <p:nvPr/>
        </p:nvSpPr>
        <p:spPr>
          <a:xfrm>
            <a:off x="10591495" y="1691640"/>
            <a:ext cx="731520" cy="731520"/>
          </a:xfrm>
          <a:prstGeom prst="ellipse">
            <a:avLst/>
          </a:prstGeom>
          <a:solidFill>
            <a:schemeClr val="tx1"/>
          </a:solidFill>
          <a:ln w="19050">
            <a:solidFill>
              <a:schemeClr val="accent1"/>
            </a:solidFill>
            <a:prstDash val="solid"/>
          </a:ln>
        </p:spPr>
      </p:sp>
      <p:pic>
        <p:nvPicPr>
          <p:cNvPr id="5" name="icon" descr="FaFileLines">    </p:cNvPr>
          <p:cNvPicPr>
            <a:picLocks noChangeAspect="1"/>
          </p:cNvPicPr>
          <p:nvPr/>
        </p:nvPicPr>
        <p:blipFill>
          <a:blip r:embed="rId1"/>
          <a:stretch>
            <a:fillRect/>
          </a:stretch>
        </p:blipFill>
        <p:spPr>
          <a:xfrm>
            <a:off x="10774375" y="1874520"/>
            <a:ext cx="365760" cy="365760"/>
          </a:xfrm>
          <a:prstGeom prst="rect">
            <a:avLst/>
          </a:prstGeom>
        </p:spPr>
      </p:pic>
      <p:sp>
        <p:nvSpPr>
          <p:cNvPr id="6" name="Text 3"/>
          <p:cNvSpPr txBox="1"/>
          <p:nvPr/>
        </p:nvSpPr>
        <p:spPr>
          <a:xfrm>
            <a:off x="8351215" y="2606040"/>
            <a:ext cx="3017520" cy="457200"/>
          </a:xfrm>
          <a:prstGeom prst="rect">
            <a:avLst/>
          </a:prstGeom>
          <a:noFill/>
          <a:ln/>
        </p:spPr>
        <p:txBody>
          <a:bodyPr wrap="square" lIns="0" tIns="0" rIns="0" bIns="0" rtlCol="0" anchor="t"/>
          <a:lstStyle/>
          <a:p>
            <a:pPr rtl="1" algn="r" indent="0" marL="0">
              <a:buNone/>
            </a:pPr>
            <a:r>
              <a:rPr lang="ar-SA" altLang="en-US" sz="2100" b="1" dirty="0">
                <a:solidFill>
                  <a:schemeClr val="bg1"/>
                </a:solidFill>
              </a:rPr>
              <a:t>سجلات الموقع والجدار</a:t>
            </a:r>
            <a:endParaRPr lang="ar-SA" sz="2100" dirty="0"/>
          </a:p>
        </p:txBody>
      </p:sp>
      <p:sp>
        <p:nvSpPr>
          <p:cNvPr id="7" name="Text 4"/>
          <p:cNvSpPr txBox="1"/>
          <p:nvPr/>
        </p:nvSpPr>
        <p:spPr>
          <a:xfrm>
            <a:off x="8351215" y="3200400"/>
            <a:ext cx="3017520" cy="1920240"/>
          </a:xfrm>
          <a:prstGeom prst="rect">
            <a:avLst/>
          </a:prstGeom>
          <a:noFill/>
          <a:ln/>
        </p:spPr>
        <p:txBody>
          <a:bodyPr wrap="square" lIns="0" tIns="0" rIns="0" bIns="0" rtlCol="0" anchor="t"/>
          <a:lstStyle/>
          <a:p>
            <a:pPr rtl="1" algn="r" marL="342900" indent="-342900">
              <a:spcAft>
                <a:spcPts val="800"/>
              </a:spcAft>
              <a:buSzPct val="100000"/>
              <a:buChar char="•"/>
            </a:pPr>
            <a:r>
              <a:rPr lang="ar-SA" altLang="en-US" sz="1500" dirty="0">
                <a:solidFill>
                  <a:schemeClr val="bg2"/>
                </a:solidFill>
              </a:rPr>
              <a:t>سجلات Nginx وApache والجدار الناري</a:t>
            </a:r>
            <a:endParaRPr lang="ar-SA" sz="1500" dirty="0"/>
          </a:p>
          <a:p>
            <a:pPr rtl="1" algn="r" marL="342900" indent="-342900">
              <a:spcAft>
                <a:spcPts val="800"/>
              </a:spcAft>
              <a:buSzPct val="100000"/>
              <a:buChar char="•"/>
            </a:pPr>
            <a:r>
              <a:rPr lang="ar-SA" altLang="en-US" sz="1500" dirty="0">
                <a:solidFill>
                  <a:schemeClr val="bg2"/>
                </a:solidFill>
              </a:rPr>
              <a:t>قواعد: تخمين، فحص مسارات، حقن، إغراق</a:t>
            </a:r>
            <a:endParaRPr lang="ar-SA" sz="1500" dirty="0"/>
          </a:p>
          <a:p>
            <a:pPr rtl="1" algn="r" marL="342900" indent="-342900">
              <a:spcAft>
                <a:spcPts val="800"/>
              </a:spcAft>
              <a:buSzPct val="100000"/>
              <a:buChar char="•"/>
            </a:pPr>
            <a:r>
              <a:rPr lang="ar-SA" altLang="en-US" sz="1500" dirty="0">
                <a:solidFill>
                  <a:schemeClr val="bg2"/>
                </a:solidFill>
              </a:rPr>
              <a:t>نموذج شذوذ يتعلّم سلوك زوّار المنشأة</a:t>
            </a:r>
            <a:endParaRPr lang="ar-SA" sz="1500" dirty="0"/>
          </a:p>
        </p:txBody>
      </p:sp>
      <p:sp>
        <p:nvSpPr>
          <p:cNvPr id="8" name="card"/>
          <p:cNvSpPr/>
          <p:nvPr/>
        </p:nvSpPr>
        <p:spPr>
          <a:xfrm>
            <a:off x="4314139" y="1417320"/>
            <a:ext cx="3566160" cy="3840480"/>
          </a:xfrm>
          <a:prstGeom prst="roundRect">
            <a:avLst>
              <a:gd name="adj" fmla="val 3077"/>
            </a:avLst>
          </a:prstGeom>
          <a:solidFill>
            <a:schemeClr val="tx2"/>
          </a:solidFill>
          <a:ln w="12700">
            <a:solidFill>
              <a:schemeClr val="accent5"/>
            </a:solidFill>
            <a:prstDash val="solid"/>
          </a:ln>
        </p:spPr>
      </p:sp>
      <p:sp>
        <p:nvSpPr>
          <p:cNvPr id="9" name="icon-circle"/>
          <p:cNvSpPr/>
          <p:nvPr/>
        </p:nvSpPr>
        <p:spPr>
          <a:xfrm>
            <a:off x="6828739" y="1691640"/>
            <a:ext cx="731520" cy="731520"/>
          </a:xfrm>
          <a:prstGeom prst="ellipse">
            <a:avLst/>
          </a:prstGeom>
          <a:solidFill>
            <a:schemeClr val="tx1"/>
          </a:solidFill>
          <a:ln w="19050">
            <a:solidFill>
              <a:schemeClr val="accent1"/>
            </a:solidFill>
            <a:prstDash val="solid"/>
          </a:ln>
        </p:spPr>
      </p:sp>
      <p:pic>
        <p:nvPicPr>
          <p:cNvPr id="10" name="icon" descr="FaServer">    </p:cNvPr>
          <p:cNvPicPr>
            <a:picLocks noChangeAspect="1"/>
          </p:cNvPicPr>
          <p:nvPr/>
        </p:nvPicPr>
        <p:blipFill>
          <a:blip r:embed="rId2"/>
          <a:stretch>
            <a:fillRect/>
          </a:stretch>
        </p:blipFill>
        <p:spPr>
          <a:xfrm>
            <a:off x="7011619" y="1874520"/>
            <a:ext cx="365760" cy="365760"/>
          </a:xfrm>
          <a:prstGeom prst="rect">
            <a:avLst/>
          </a:prstGeom>
        </p:spPr>
      </p:pic>
      <p:sp>
        <p:nvSpPr>
          <p:cNvPr id="11" name="Text 7"/>
          <p:cNvSpPr txBox="1"/>
          <p:nvPr/>
        </p:nvSpPr>
        <p:spPr>
          <a:xfrm>
            <a:off x="4588459" y="2606040"/>
            <a:ext cx="3017520" cy="457200"/>
          </a:xfrm>
          <a:prstGeom prst="rect">
            <a:avLst/>
          </a:prstGeom>
          <a:noFill/>
          <a:ln/>
        </p:spPr>
        <p:txBody>
          <a:bodyPr wrap="square" lIns="0" tIns="0" rIns="0" bIns="0" rtlCol="0" anchor="t"/>
          <a:lstStyle/>
          <a:p>
            <a:pPr rtl="1" algn="r" indent="0" marL="0">
              <a:buNone/>
            </a:pPr>
            <a:r>
              <a:rPr lang="ar-SA" altLang="en-US" sz="2100" b="1" dirty="0">
                <a:solidFill>
                  <a:schemeClr val="bg1"/>
                </a:solidFill>
              </a:rPr>
              <a:t>وكيل الخادم</a:t>
            </a:r>
            <a:endParaRPr lang="ar-SA" sz="2100" dirty="0"/>
          </a:p>
        </p:txBody>
      </p:sp>
      <p:sp>
        <p:nvSpPr>
          <p:cNvPr id="12" name="Text 8"/>
          <p:cNvSpPr txBox="1"/>
          <p:nvPr/>
        </p:nvSpPr>
        <p:spPr>
          <a:xfrm>
            <a:off x="4588459" y="3200400"/>
            <a:ext cx="3017520" cy="1920240"/>
          </a:xfrm>
          <a:prstGeom prst="rect">
            <a:avLst/>
          </a:prstGeom>
          <a:noFill/>
          <a:ln/>
        </p:spPr>
        <p:txBody>
          <a:bodyPr wrap="square" lIns="0" tIns="0" rIns="0" bIns="0" rtlCol="0" anchor="t"/>
          <a:lstStyle/>
          <a:p>
            <a:pPr rtl="1" algn="r" marL="342900" indent="-342900">
              <a:spcAft>
                <a:spcPts val="800"/>
              </a:spcAft>
              <a:buSzPct val="100000"/>
              <a:buChar char="•"/>
            </a:pPr>
            <a:r>
              <a:rPr lang="ar-SA" altLang="en-US" sz="1500" dirty="0">
                <a:solidFill>
                  <a:schemeClr val="bg2"/>
                </a:solidFill>
              </a:rPr>
              <a:t>يلخّص كل اتصال إلى 77 خاصية</a:t>
            </a:r>
            <a:endParaRPr lang="ar-SA" sz="1500" dirty="0"/>
          </a:p>
          <a:p>
            <a:pPr rtl="1" algn="r" marL="342900" indent="-342900">
              <a:spcAft>
                <a:spcPts val="800"/>
              </a:spcAft>
              <a:buSzPct val="100000"/>
              <a:buChar char="•"/>
            </a:pPr>
            <a:r>
              <a:rPr lang="ar-SA" altLang="en-US" sz="1500" dirty="0">
                <a:solidFill>
                  <a:schemeClr val="bg2"/>
                </a:solidFill>
              </a:rPr>
              <a:t>لا يُرسل محتوى الحزم أبدًا</a:t>
            </a:r>
            <a:endParaRPr lang="ar-SA" sz="1500" dirty="0"/>
          </a:p>
          <a:p>
            <a:pPr rtl="1" algn="r" marL="342900" indent="-342900">
              <a:spcAft>
                <a:spcPts val="800"/>
              </a:spcAft>
              <a:buSzPct val="100000"/>
              <a:buChar char="•"/>
            </a:pPr>
            <a:r>
              <a:rPr lang="ar-SA" altLang="en-US" sz="1500" dirty="0">
                <a:solidFill>
                  <a:schemeClr val="bg2"/>
                </a:solidFill>
              </a:rPr>
              <a:t>صلاحية التقاط فقط، ومخزن 24 ساعة</a:t>
            </a:r>
            <a:endParaRPr lang="ar-SA" sz="1500" dirty="0"/>
          </a:p>
        </p:txBody>
      </p:sp>
      <p:sp>
        <p:nvSpPr>
          <p:cNvPr id="13" name="card"/>
          <p:cNvSpPr/>
          <p:nvPr/>
        </p:nvSpPr>
        <p:spPr>
          <a:xfrm>
            <a:off x="551383" y="1417320"/>
            <a:ext cx="3566160" cy="3840480"/>
          </a:xfrm>
          <a:prstGeom prst="roundRect">
            <a:avLst>
              <a:gd name="adj" fmla="val 3077"/>
            </a:avLst>
          </a:prstGeom>
          <a:solidFill>
            <a:schemeClr val="tx2"/>
          </a:solidFill>
          <a:ln w="12700">
            <a:solidFill>
              <a:schemeClr val="accent5"/>
            </a:solidFill>
            <a:prstDash val="solid"/>
          </a:ln>
        </p:spPr>
      </p:sp>
      <p:sp>
        <p:nvSpPr>
          <p:cNvPr id="14" name="icon-circle"/>
          <p:cNvSpPr/>
          <p:nvPr/>
        </p:nvSpPr>
        <p:spPr>
          <a:xfrm>
            <a:off x="3065983" y="1691640"/>
            <a:ext cx="731520" cy="731520"/>
          </a:xfrm>
          <a:prstGeom prst="ellipse">
            <a:avLst/>
          </a:prstGeom>
          <a:solidFill>
            <a:schemeClr val="tx1"/>
          </a:solidFill>
          <a:ln w="19050">
            <a:solidFill>
              <a:schemeClr val="accent1"/>
            </a:solidFill>
            <a:prstDash val="solid"/>
          </a:ln>
        </p:spPr>
      </p:sp>
      <p:pic>
        <p:nvPicPr>
          <p:cNvPr id="15" name="icon" descr="FaGlobe">    </p:cNvPr>
          <p:cNvPicPr>
            <a:picLocks noChangeAspect="1"/>
          </p:cNvPicPr>
          <p:nvPr/>
        </p:nvPicPr>
        <p:blipFill>
          <a:blip r:embed="rId3"/>
          <a:stretch>
            <a:fillRect/>
          </a:stretch>
        </p:blipFill>
        <p:spPr>
          <a:xfrm>
            <a:off x="3248863" y="1874520"/>
            <a:ext cx="365760" cy="365760"/>
          </a:xfrm>
          <a:prstGeom prst="rect">
            <a:avLst/>
          </a:prstGeom>
        </p:spPr>
      </p:pic>
      <p:sp>
        <p:nvSpPr>
          <p:cNvPr id="16" name="Text 11"/>
          <p:cNvSpPr txBox="1"/>
          <p:nvPr/>
        </p:nvSpPr>
        <p:spPr>
          <a:xfrm>
            <a:off x="825703" y="2606040"/>
            <a:ext cx="3017520" cy="457200"/>
          </a:xfrm>
          <a:prstGeom prst="rect">
            <a:avLst/>
          </a:prstGeom>
          <a:noFill/>
          <a:ln/>
        </p:spPr>
        <p:txBody>
          <a:bodyPr wrap="square" lIns="0" tIns="0" rIns="0" bIns="0" rtlCol="0" anchor="t"/>
          <a:lstStyle/>
          <a:p>
            <a:pPr rtl="1" algn="r" indent="0" marL="0">
              <a:buNone/>
            </a:pPr>
            <a:r>
              <a:rPr lang="ar-SA" altLang="en-US" sz="2100" b="1" dirty="0">
                <a:solidFill>
                  <a:schemeClr val="bg1"/>
                </a:solidFill>
              </a:rPr>
              <a:t>المراقبة الخارجية</a:t>
            </a:r>
            <a:endParaRPr lang="ar-SA" sz="2100" dirty="0"/>
          </a:p>
        </p:txBody>
      </p:sp>
      <p:sp>
        <p:nvSpPr>
          <p:cNvPr id="17" name="Text 12"/>
          <p:cNvSpPr txBox="1"/>
          <p:nvPr/>
        </p:nvSpPr>
        <p:spPr>
          <a:xfrm>
            <a:off x="825703" y="3200400"/>
            <a:ext cx="3017520" cy="1920240"/>
          </a:xfrm>
          <a:prstGeom prst="rect">
            <a:avLst/>
          </a:prstGeom>
          <a:noFill/>
          <a:ln/>
        </p:spPr>
        <p:txBody>
          <a:bodyPr wrap="square" lIns="0" tIns="0" rIns="0" bIns="0" rtlCol="0" anchor="t"/>
          <a:lstStyle/>
          <a:p>
            <a:pPr rtl="1" algn="r" marL="342900" indent="-342900">
              <a:spcAft>
                <a:spcPts val="800"/>
              </a:spcAft>
              <a:buSzPct val="100000"/>
              <a:buChar char="•"/>
            </a:pPr>
            <a:r>
              <a:rPr lang="ar-SA" altLang="en-US" sz="1500" dirty="0">
                <a:solidFill>
                  <a:schemeClr val="bg2"/>
                </a:solidFill>
              </a:rPr>
              <a:t>التوفر والشهادة وترويسات الأمان</a:t>
            </a:r>
            <a:endParaRPr lang="ar-SA" sz="1500" dirty="0"/>
          </a:p>
          <a:p>
            <a:pPr rtl="1" algn="r" marL="342900" indent="-342900">
              <a:spcAft>
                <a:spcPts val="800"/>
              </a:spcAft>
              <a:buSzPct val="100000"/>
              <a:buChar char="•"/>
            </a:pPr>
            <a:r>
              <a:rPr lang="ar-SA" altLang="en-US" sz="1500" dirty="0">
                <a:solidFill>
                  <a:schemeClr val="bg2"/>
                </a:solidFill>
              </a:rPr>
              <a:t>يكتشف الملفات الحساسة المكشوفة</a:t>
            </a:r>
            <a:endParaRPr lang="ar-SA" sz="1500" dirty="0"/>
          </a:p>
          <a:p>
            <a:pPr rtl="1" algn="r" marL="342900" indent="-342900">
              <a:spcAft>
                <a:spcPts val="800"/>
              </a:spcAft>
              <a:buSzPct val="100000"/>
              <a:buChar char="•"/>
            </a:pPr>
            <a:r>
              <a:rPr lang="ar-SA" altLang="en-US" sz="1500" dirty="0">
                <a:solidFill>
                  <a:schemeClr val="bg2"/>
                </a:solidFill>
              </a:rPr>
              <a:t>درجة من A إلى F وإصلاح جاهز للنسخ</a:t>
            </a:r>
            <a:endParaRPr lang="ar-SA" sz="1500" dirty="0"/>
          </a:p>
        </p:txBody>
      </p:sp>
      <p:sp>
        <p:nvSpPr>
          <p:cNvPr id="18" name="card"/>
          <p:cNvSpPr/>
          <p:nvPr/>
        </p:nvSpPr>
        <p:spPr>
          <a:xfrm>
            <a:off x="548640" y="5486400"/>
            <a:ext cx="11094415" cy="640080"/>
          </a:xfrm>
          <a:prstGeom prst="roundRect">
            <a:avLst>
              <a:gd name="adj" fmla="val 17143"/>
            </a:avLst>
          </a:prstGeom>
          <a:solidFill>
            <a:schemeClr val="tx1"/>
          </a:solidFill>
          <a:ln w="12700">
            <a:solidFill>
              <a:schemeClr val="accent5"/>
            </a:solidFill>
            <a:prstDash val="solid"/>
          </a:ln>
        </p:spPr>
      </p:sp>
      <p:sp>
        <p:nvSpPr>
          <p:cNvPr id="19" name="Text 14"/>
          <p:cNvSpPr txBox="1"/>
          <p:nvPr/>
        </p:nvSpPr>
        <p:spPr>
          <a:xfrm>
            <a:off x="822960" y="5605272"/>
            <a:ext cx="10545775" cy="411480"/>
          </a:xfrm>
          <a:prstGeom prst="rect">
            <a:avLst/>
          </a:prstGeom>
          <a:noFill/>
          <a:ln/>
        </p:spPr>
        <p:txBody>
          <a:bodyPr wrap="square" lIns="0" tIns="0" rIns="0" bIns="0" rtlCol="0" anchor="t"/>
          <a:lstStyle/>
          <a:p>
            <a:pPr rtl="1" algn="ctr" indent="0" marL="0">
              <a:buNone/>
            </a:pPr>
            <a:r>
              <a:rPr lang="ar-SA" altLang="en-US" sz="1500" dirty="0">
                <a:solidFill>
                  <a:schemeClr val="accent1"/>
                </a:solidFill>
              </a:rPr>
              <a:t>مفتاح استقبال للإرسال فقط، ومفتاح لوحة للقرار · قاعدة بيانات مستقلة لكل منشأة · لا يُخزَّن مفتاح خام</a:t>
            </a:r>
            <a:endParaRPr lang="ar-SA" sz="15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نماذج الكشف والتنبؤ</a:t>
            </a:r>
            <a:endParaRPr lang="en-US" sz="3400" dirty="0"/>
          </a:p>
        </p:txBody>
      </p:sp>
      <p:sp>
        <p:nvSpPr>
          <p:cNvPr id="3" name="card"/>
          <p:cNvSpPr/>
          <p:nvPr/>
        </p:nvSpPr>
        <p:spPr>
          <a:xfrm>
            <a:off x="8076895" y="1463040"/>
            <a:ext cx="3566160" cy="3108960"/>
          </a:xfrm>
          <a:prstGeom prst="roundRect">
            <a:avLst>
              <a:gd name="adj" fmla="val 3529"/>
            </a:avLst>
          </a:prstGeom>
          <a:solidFill>
            <a:schemeClr val="tx2"/>
          </a:solidFill>
          <a:ln w="12700">
            <a:solidFill>
              <a:schemeClr val="accent5"/>
            </a:solidFill>
            <a:prstDash val="solid"/>
          </a:ln>
        </p:spPr>
      </p:sp>
      <p:sp>
        <p:nvSpPr>
          <p:cNvPr id="4" name="Text 2"/>
          <p:cNvSpPr txBox="1"/>
          <p:nvPr/>
        </p:nvSpPr>
        <p:spPr>
          <a:xfrm>
            <a:off x="8259775" y="1783080"/>
            <a:ext cx="3200400" cy="1097280"/>
          </a:xfrm>
          <a:prstGeom prst="rect">
            <a:avLst/>
          </a:prstGeom>
          <a:noFill/>
          <a:ln/>
        </p:spPr>
        <p:txBody>
          <a:bodyPr wrap="square" lIns="0" tIns="0" rIns="0" bIns="0" rtlCol="0" anchor="t"/>
          <a:lstStyle/>
          <a:p>
            <a:pPr algn="ctr" indent="0" marL="0">
              <a:buNone/>
            </a:pPr>
            <a:r>
              <a:rPr lang="ar-SA" altLang="en-US" sz="6000" b="1" dirty="0">
                <a:solidFill>
                  <a:schemeClr val="accent2"/>
                </a:solidFill>
              </a:rPr>
              <a:t>94.8%</a:t>
            </a:r>
            <a:endParaRPr lang="ar-SA" sz="6000" dirty="0"/>
          </a:p>
        </p:txBody>
      </p:sp>
      <p:sp>
        <p:nvSpPr>
          <p:cNvPr id="5" name="Text 3"/>
          <p:cNvSpPr txBox="1"/>
          <p:nvPr/>
        </p:nvSpPr>
        <p:spPr>
          <a:xfrm>
            <a:off x="8259775" y="2971800"/>
            <a:ext cx="3200400" cy="457200"/>
          </a:xfrm>
          <a:prstGeom prst="rect">
            <a:avLst/>
          </a:prstGeom>
          <a:noFill/>
          <a:ln/>
        </p:spPr>
        <p:txBody>
          <a:bodyPr wrap="square" lIns="0" tIns="0" rIns="0" bIns="0" rtlCol="0" anchor="t"/>
          <a:lstStyle/>
          <a:p>
            <a:pPr rtl="1" algn="ctr" indent="0" marL="0">
              <a:buNone/>
            </a:pPr>
            <a:r>
              <a:rPr lang="ar-SA" altLang="en-US" sz="2100" b="1" dirty="0">
                <a:solidFill>
                  <a:schemeClr val="bg1"/>
                </a:solidFill>
              </a:rPr>
              <a:t>رصد الهجمات</a:t>
            </a:r>
            <a:endParaRPr lang="ar-SA" sz="2100" dirty="0"/>
          </a:p>
        </p:txBody>
      </p:sp>
      <p:sp>
        <p:nvSpPr>
          <p:cNvPr id="6" name="Text 4"/>
          <p:cNvSpPr txBox="1"/>
          <p:nvPr/>
        </p:nvSpPr>
        <p:spPr>
          <a:xfrm>
            <a:off x="8259775" y="3520440"/>
            <a:ext cx="3200400" cy="731520"/>
          </a:xfrm>
          <a:prstGeom prst="rect">
            <a:avLst/>
          </a:prstGeom>
          <a:noFill/>
          <a:ln/>
        </p:spPr>
        <p:txBody>
          <a:bodyPr wrap="square" lIns="0" tIns="0" rIns="0" bIns="0" rtlCol="0" anchor="t"/>
          <a:lstStyle/>
          <a:p>
            <a:pPr rtl="1" algn="ctr" indent="0" marL="0">
              <a:buNone/>
            </a:pPr>
            <a:r>
              <a:rPr lang="ar-SA" altLang="en-US" sz="1500" dirty="0">
                <a:solidFill>
                  <a:schemeClr val="bg2"/>
                </a:solidFill>
              </a:rPr>
              <a:t>Random Forest: هجوم أم طبيعي</a:t>
            </a:r>
            <a:endParaRPr lang="ar-SA" sz="1500" dirty="0"/>
          </a:p>
        </p:txBody>
      </p:sp>
      <p:sp>
        <p:nvSpPr>
          <p:cNvPr id="7" name="card"/>
          <p:cNvSpPr/>
          <p:nvPr/>
        </p:nvSpPr>
        <p:spPr>
          <a:xfrm>
            <a:off x="4314139" y="1463040"/>
            <a:ext cx="3566160" cy="3108960"/>
          </a:xfrm>
          <a:prstGeom prst="roundRect">
            <a:avLst>
              <a:gd name="adj" fmla="val 3529"/>
            </a:avLst>
          </a:prstGeom>
          <a:solidFill>
            <a:schemeClr val="tx2"/>
          </a:solidFill>
          <a:ln w="12700">
            <a:solidFill>
              <a:schemeClr val="accent5"/>
            </a:solidFill>
            <a:prstDash val="solid"/>
          </a:ln>
        </p:spPr>
      </p:sp>
      <p:sp>
        <p:nvSpPr>
          <p:cNvPr id="8" name="Text 6"/>
          <p:cNvSpPr txBox="1"/>
          <p:nvPr/>
        </p:nvSpPr>
        <p:spPr>
          <a:xfrm>
            <a:off x="4497019" y="1783080"/>
            <a:ext cx="3200400" cy="1097280"/>
          </a:xfrm>
          <a:prstGeom prst="rect">
            <a:avLst/>
          </a:prstGeom>
          <a:noFill/>
          <a:ln/>
        </p:spPr>
        <p:txBody>
          <a:bodyPr wrap="square" lIns="0" tIns="0" rIns="0" bIns="0" rtlCol="0" anchor="t"/>
          <a:lstStyle/>
          <a:p>
            <a:pPr algn="ctr" indent="0" marL="0">
              <a:buNone/>
            </a:pPr>
            <a:r>
              <a:rPr lang="ar-SA" altLang="en-US" sz="6000" b="1" dirty="0">
                <a:solidFill>
                  <a:schemeClr val="accent2"/>
                </a:solidFill>
              </a:rPr>
              <a:t>95.2%</a:t>
            </a:r>
            <a:endParaRPr lang="ar-SA" sz="6000" dirty="0"/>
          </a:p>
        </p:txBody>
      </p:sp>
      <p:sp>
        <p:nvSpPr>
          <p:cNvPr id="9" name="Text 7"/>
          <p:cNvSpPr txBox="1"/>
          <p:nvPr/>
        </p:nvSpPr>
        <p:spPr>
          <a:xfrm>
            <a:off x="4497019" y="2971800"/>
            <a:ext cx="3200400" cy="457200"/>
          </a:xfrm>
          <a:prstGeom prst="rect">
            <a:avLst/>
          </a:prstGeom>
          <a:noFill/>
          <a:ln/>
        </p:spPr>
        <p:txBody>
          <a:bodyPr wrap="square" lIns="0" tIns="0" rIns="0" bIns="0" rtlCol="0" anchor="t"/>
          <a:lstStyle/>
          <a:p>
            <a:pPr rtl="1" algn="ctr" indent="0" marL="0">
              <a:buNone/>
            </a:pPr>
            <a:r>
              <a:rPr lang="ar-SA" altLang="en-US" sz="2100" b="1" dirty="0">
                <a:solidFill>
                  <a:schemeClr val="bg1"/>
                </a:solidFill>
              </a:rPr>
              <a:t>تحديد نوع الهجوم</a:t>
            </a:r>
            <a:endParaRPr lang="ar-SA" sz="2100" dirty="0"/>
          </a:p>
        </p:txBody>
      </p:sp>
      <p:sp>
        <p:nvSpPr>
          <p:cNvPr id="10" name="Text 8"/>
          <p:cNvSpPr txBox="1"/>
          <p:nvPr/>
        </p:nvSpPr>
        <p:spPr>
          <a:xfrm>
            <a:off x="4497019" y="3520440"/>
            <a:ext cx="3200400" cy="731520"/>
          </a:xfrm>
          <a:prstGeom prst="rect">
            <a:avLst/>
          </a:prstGeom>
          <a:noFill/>
          <a:ln/>
        </p:spPr>
        <p:txBody>
          <a:bodyPr wrap="square" lIns="0" tIns="0" rIns="0" bIns="0" rtlCol="0" anchor="t"/>
          <a:lstStyle/>
          <a:p>
            <a:pPr rtl="1" algn="ctr" indent="0" marL="0">
              <a:buNone/>
            </a:pPr>
            <a:r>
              <a:rPr lang="ar-SA" altLang="en-US" sz="1500" dirty="0">
                <a:solidFill>
                  <a:schemeClr val="bg2"/>
                </a:solidFill>
              </a:rPr>
              <a:t>Macro-F1 على 7 فئات</a:t>
            </a:r>
            <a:endParaRPr lang="ar-SA" sz="1500" dirty="0"/>
          </a:p>
        </p:txBody>
      </p:sp>
      <p:sp>
        <p:nvSpPr>
          <p:cNvPr id="11" name="card"/>
          <p:cNvSpPr/>
          <p:nvPr/>
        </p:nvSpPr>
        <p:spPr>
          <a:xfrm>
            <a:off x="551383" y="1463040"/>
            <a:ext cx="3566160" cy="3108960"/>
          </a:xfrm>
          <a:prstGeom prst="roundRect">
            <a:avLst>
              <a:gd name="adj" fmla="val 3529"/>
            </a:avLst>
          </a:prstGeom>
          <a:solidFill>
            <a:schemeClr val="tx2"/>
          </a:solidFill>
          <a:ln w="12700">
            <a:solidFill>
              <a:schemeClr val="accent5"/>
            </a:solidFill>
            <a:prstDash val="solid"/>
          </a:ln>
        </p:spPr>
      </p:sp>
      <p:sp>
        <p:nvSpPr>
          <p:cNvPr id="12" name="Text 10"/>
          <p:cNvSpPr txBox="1"/>
          <p:nvPr/>
        </p:nvSpPr>
        <p:spPr>
          <a:xfrm>
            <a:off x="734263" y="1783080"/>
            <a:ext cx="3200400" cy="1097280"/>
          </a:xfrm>
          <a:prstGeom prst="rect">
            <a:avLst/>
          </a:prstGeom>
          <a:noFill/>
          <a:ln/>
        </p:spPr>
        <p:txBody>
          <a:bodyPr wrap="square" lIns="0" tIns="0" rIns="0" bIns="0" rtlCol="0" anchor="t"/>
          <a:lstStyle/>
          <a:p>
            <a:pPr algn="ctr" indent="0" marL="0">
              <a:buNone/>
            </a:pPr>
            <a:r>
              <a:rPr lang="ar-SA" altLang="en-US" sz="6000" b="1" dirty="0">
                <a:solidFill>
                  <a:schemeClr val="accent1"/>
                </a:solidFill>
              </a:rPr>
              <a:t>41%</a:t>
            </a:r>
            <a:endParaRPr lang="ar-SA" sz="6000" dirty="0"/>
          </a:p>
        </p:txBody>
      </p:sp>
      <p:sp>
        <p:nvSpPr>
          <p:cNvPr id="13" name="Text 11"/>
          <p:cNvSpPr txBox="1"/>
          <p:nvPr/>
        </p:nvSpPr>
        <p:spPr>
          <a:xfrm>
            <a:off x="734263" y="2971800"/>
            <a:ext cx="3200400" cy="457200"/>
          </a:xfrm>
          <a:prstGeom prst="rect">
            <a:avLst/>
          </a:prstGeom>
          <a:noFill/>
          <a:ln/>
        </p:spPr>
        <p:txBody>
          <a:bodyPr wrap="square" lIns="0" tIns="0" rIns="0" bIns="0" rtlCol="0" anchor="t"/>
          <a:lstStyle/>
          <a:p>
            <a:pPr rtl="1" algn="ctr" indent="0" marL="0">
              <a:buNone/>
            </a:pPr>
            <a:r>
              <a:rPr lang="ar-SA" altLang="en-US" sz="2100" b="1" dirty="0">
                <a:solidFill>
                  <a:schemeClr val="bg1"/>
                </a:solidFill>
              </a:rPr>
              <a:t>إنذار قبل بدء الهجوم</a:t>
            </a:r>
            <a:endParaRPr lang="ar-SA" sz="2100" dirty="0"/>
          </a:p>
        </p:txBody>
      </p:sp>
      <p:sp>
        <p:nvSpPr>
          <p:cNvPr id="14" name="Text 12"/>
          <p:cNvSpPr txBox="1"/>
          <p:nvPr/>
        </p:nvSpPr>
        <p:spPr>
          <a:xfrm>
            <a:off x="734263" y="3520440"/>
            <a:ext cx="3200400" cy="731520"/>
          </a:xfrm>
          <a:prstGeom prst="rect">
            <a:avLst/>
          </a:prstGeom>
          <a:noFill/>
          <a:ln/>
        </p:spPr>
        <p:txBody>
          <a:bodyPr wrap="square" lIns="0" tIns="0" rIns="0" bIns="0" rtlCol="0" anchor="t"/>
          <a:lstStyle/>
          <a:p>
            <a:pPr rtl="1" algn="ctr" indent="0" marL="0">
              <a:buNone/>
            </a:pPr>
            <a:r>
              <a:rPr lang="ar-SA" altLang="en-US" sz="1500" dirty="0">
                <a:solidFill>
                  <a:schemeClr val="bg2"/>
                </a:solidFill>
              </a:rPr>
              <a:t>5 نماذج LSTM · الصدفة تقارب 18%</a:t>
            </a:r>
            <a:endParaRPr lang="ar-SA" sz="1500" dirty="0"/>
          </a:p>
        </p:txBody>
      </p:sp>
      <p:sp>
        <p:nvSpPr>
          <p:cNvPr id="15" name="Text 13"/>
          <p:cNvSpPr txBox="1"/>
          <p:nvPr/>
        </p:nvSpPr>
        <p:spPr>
          <a:xfrm>
            <a:off x="548640" y="4892040"/>
            <a:ext cx="11094415" cy="1097280"/>
          </a:xfrm>
          <a:prstGeom prst="rect">
            <a:avLst/>
          </a:prstGeom>
          <a:noFill/>
          <a:ln/>
        </p:spPr>
        <p:txBody>
          <a:bodyPr wrap="square" lIns="0" tIns="0" rIns="0" bIns="0" rtlCol="0" anchor="t"/>
          <a:lstStyle/>
          <a:p>
            <a:pPr rtl="1" algn="r" indent="0" marL="0">
              <a:buNone/>
            </a:pPr>
            <a:r>
              <a:rPr lang="ar-SA" altLang="en-US" sz="1600" b="1" dirty="0">
                <a:solidFill>
                  <a:schemeClr val="bg1"/>
                </a:solidFill>
              </a:rPr>
              <a:t>التدريب: </a:t>
            </a:r>
            <a:pPr rtl="1" algn="r" indent="0" marL="0">
              <a:buNone/>
            </a:pPr>
            <a:r>
              <a:rPr lang="ar-SA" altLang="en-US" sz="1600" dirty="0">
                <a:solidFill>
                  <a:schemeClr val="bg2"/>
                </a:solidFill>
              </a:rPr>
              <a:t>قرابة 2.83 مليون اتصال من CICIDS2017، بتقسيم زمني صارم: النموذج لم يرَ بيانات الاختبار. </a:t>
            </a:r>
            <a:pPr rtl="1" algn="r" indent="0" marL="0">
              <a:buNone/>
            </a:pPr>
            <a:r>
              <a:rPr lang="ar-SA" altLang="en-US" sz="1600" b="1" dirty="0">
                <a:solidFill>
                  <a:schemeClr val="bg1"/>
                </a:solidFill>
              </a:rPr>
              <a:t>حاجز أدلة: </a:t>
            </a:r>
            <a:pPr rtl="1" algn="r" indent="0" marL="0">
              <a:buNone/>
            </a:pPr>
            <a:r>
              <a:rPr lang="ar-SA" altLang="en-US" sz="1600" dirty="0">
                <a:solidFill>
                  <a:schemeClr val="bg2"/>
                </a:solidFill>
              </a:rPr>
              <a:t>لا يُفتح بلاغ من النموذج إلا بـ 20 اتصالًا على الأقل، وثقة 80%، ونسبة هجوم 50%.</a:t>
            </a:r>
            <a:endParaRPr lang="ar-SA" sz="16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فريق وكلاء: متخصصون ثم منسّق</a:t>
            </a:r>
            <a:endParaRPr lang="en-US" sz="3400" dirty="0"/>
          </a:p>
        </p:txBody>
      </p:sp>
      <p:sp>
        <p:nvSpPr>
          <p:cNvPr id="3" name="card"/>
          <p:cNvSpPr/>
          <p:nvPr/>
        </p:nvSpPr>
        <p:spPr>
          <a:xfrm>
            <a:off x="8351215" y="1463040"/>
            <a:ext cx="3291840" cy="1097280"/>
          </a:xfrm>
          <a:prstGeom prst="roundRect">
            <a:avLst>
              <a:gd name="adj" fmla="val 10000"/>
            </a:avLst>
          </a:prstGeom>
          <a:solidFill>
            <a:schemeClr val="tx2"/>
          </a:solidFill>
          <a:ln w="12700">
            <a:solidFill>
              <a:schemeClr val="accent5"/>
            </a:solidFill>
            <a:prstDash val="solid"/>
          </a:ln>
        </p:spPr>
      </p:sp>
      <p:sp>
        <p:nvSpPr>
          <p:cNvPr id="4" name="icon-circle"/>
          <p:cNvSpPr/>
          <p:nvPr/>
        </p:nvSpPr>
        <p:spPr>
          <a:xfrm>
            <a:off x="10728655" y="1664208"/>
            <a:ext cx="694944" cy="694944"/>
          </a:xfrm>
          <a:prstGeom prst="ellipse">
            <a:avLst/>
          </a:prstGeom>
          <a:solidFill>
            <a:schemeClr val="tx1"/>
          </a:solidFill>
          <a:ln w="19050">
            <a:solidFill>
              <a:schemeClr val="accent1"/>
            </a:solidFill>
            <a:prstDash val="solid"/>
          </a:ln>
        </p:spPr>
      </p:sp>
      <p:pic>
        <p:nvPicPr>
          <p:cNvPr id="5" name="icon" descr="FaFileLines">    </p:cNvPr>
          <p:cNvPicPr>
            <a:picLocks noChangeAspect="1"/>
          </p:cNvPicPr>
          <p:nvPr/>
        </p:nvPicPr>
        <p:blipFill>
          <a:blip r:embed="rId1"/>
          <a:stretch>
            <a:fillRect/>
          </a:stretch>
        </p:blipFill>
        <p:spPr>
          <a:xfrm>
            <a:off x="10902391" y="1837944"/>
            <a:ext cx="347472" cy="347472"/>
          </a:xfrm>
          <a:prstGeom prst="rect">
            <a:avLst/>
          </a:prstGeom>
        </p:spPr>
      </p:pic>
      <p:sp>
        <p:nvSpPr>
          <p:cNvPr id="6" name="Text 3"/>
          <p:cNvSpPr txBox="1"/>
          <p:nvPr/>
        </p:nvSpPr>
        <p:spPr>
          <a:xfrm>
            <a:off x="8579815" y="1810512"/>
            <a:ext cx="2011680" cy="411480"/>
          </a:xfrm>
          <a:prstGeom prst="rect">
            <a:avLst/>
          </a:prstGeom>
          <a:noFill/>
          <a:ln/>
        </p:spPr>
        <p:txBody>
          <a:bodyPr wrap="square" lIns="0" tIns="0" rIns="0" bIns="0" rtlCol="0" anchor="t"/>
          <a:lstStyle/>
          <a:p>
            <a:pPr rtl="1" algn="r" indent="0" marL="0">
              <a:buNone/>
            </a:pPr>
            <a:r>
              <a:rPr lang="ar-SA" altLang="en-US" sz="1900" b="1" dirty="0">
                <a:solidFill>
                  <a:schemeClr val="bg1"/>
                </a:solidFill>
              </a:rPr>
              <a:t>محلل السجلات</a:t>
            </a:r>
            <a:endParaRPr lang="ar-SA" sz="1900" dirty="0"/>
          </a:p>
        </p:txBody>
      </p:sp>
      <p:pic>
        <p:nvPicPr>
          <p:cNvPr id="7" name="arrow" descr="سهم">    </p:cNvPr>
          <p:cNvPicPr>
            <a:picLocks noChangeAspect="1"/>
          </p:cNvPicPr>
          <p:nvPr/>
        </p:nvPicPr>
        <p:blipFill>
          <a:blip r:embed="rId2"/>
          <a:stretch>
            <a:fillRect/>
          </a:stretch>
        </p:blipFill>
        <p:spPr>
          <a:xfrm>
            <a:off x="7756855" y="1847088"/>
            <a:ext cx="365760" cy="329184"/>
          </a:xfrm>
          <a:prstGeom prst="rect">
            <a:avLst/>
          </a:prstGeom>
        </p:spPr>
      </p:pic>
      <p:sp>
        <p:nvSpPr>
          <p:cNvPr id="8" name="card"/>
          <p:cNvSpPr/>
          <p:nvPr/>
        </p:nvSpPr>
        <p:spPr>
          <a:xfrm>
            <a:off x="8351215" y="2834640"/>
            <a:ext cx="3291840" cy="1097280"/>
          </a:xfrm>
          <a:prstGeom prst="roundRect">
            <a:avLst>
              <a:gd name="adj" fmla="val 10000"/>
            </a:avLst>
          </a:prstGeom>
          <a:solidFill>
            <a:schemeClr val="tx2"/>
          </a:solidFill>
          <a:ln w="12700">
            <a:solidFill>
              <a:schemeClr val="accent5"/>
            </a:solidFill>
            <a:prstDash val="solid"/>
          </a:ln>
        </p:spPr>
      </p:sp>
      <p:sp>
        <p:nvSpPr>
          <p:cNvPr id="9" name="icon-circle"/>
          <p:cNvSpPr/>
          <p:nvPr/>
        </p:nvSpPr>
        <p:spPr>
          <a:xfrm>
            <a:off x="10728655" y="3035808"/>
            <a:ext cx="694944" cy="694944"/>
          </a:xfrm>
          <a:prstGeom prst="ellipse">
            <a:avLst/>
          </a:prstGeom>
          <a:solidFill>
            <a:schemeClr val="tx1"/>
          </a:solidFill>
          <a:ln w="19050">
            <a:solidFill>
              <a:schemeClr val="accent1"/>
            </a:solidFill>
            <a:prstDash val="solid"/>
          </a:ln>
        </p:spPr>
      </p:sp>
      <p:pic>
        <p:nvPicPr>
          <p:cNvPr id="10" name="icon" descr="FaNetworkWired">    </p:cNvPr>
          <p:cNvPicPr>
            <a:picLocks noChangeAspect="1"/>
          </p:cNvPicPr>
          <p:nvPr/>
        </p:nvPicPr>
        <p:blipFill>
          <a:blip r:embed="rId3"/>
          <a:stretch>
            <a:fillRect/>
          </a:stretch>
        </p:blipFill>
        <p:spPr>
          <a:xfrm>
            <a:off x="10902391" y="3209544"/>
            <a:ext cx="347472" cy="347472"/>
          </a:xfrm>
          <a:prstGeom prst="rect">
            <a:avLst/>
          </a:prstGeom>
        </p:spPr>
      </p:pic>
      <p:sp>
        <p:nvSpPr>
          <p:cNvPr id="11" name="Text 6"/>
          <p:cNvSpPr txBox="1"/>
          <p:nvPr/>
        </p:nvSpPr>
        <p:spPr>
          <a:xfrm>
            <a:off x="8579815" y="3182112"/>
            <a:ext cx="2011680" cy="411480"/>
          </a:xfrm>
          <a:prstGeom prst="rect">
            <a:avLst/>
          </a:prstGeom>
          <a:noFill/>
          <a:ln/>
        </p:spPr>
        <p:txBody>
          <a:bodyPr wrap="square" lIns="0" tIns="0" rIns="0" bIns="0" rtlCol="0" anchor="t"/>
          <a:lstStyle/>
          <a:p>
            <a:pPr rtl="1" algn="r" indent="0" marL="0">
              <a:buNone/>
            </a:pPr>
            <a:r>
              <a:rPr lang="ar-SA" altLang="en-US" sz="1900" b="1" dirty="0">
                <a:solidFill>
                  <a:schemeClr val="bg1"/>
                </a:solidFill>
              </a:rPr>
              <a:t>محلل الشبكة</a:t>
            </a:r>
            <a:endParaRPr lang="ar-SA" sz="1900" dirty="0"/>
          </a:p>
        </p:txBody>
      </p:sp>
      <p:pic>
        <p:nvPicPr>
          <p:cNvPr id="12" name="arrow" descr="سهم">    </p:cNvPr>
          <p:cNvPicPr>
            <a:picLocks noChangeAspect="1"/>
          </p:cNvPicPr>
          <p:nvPr/>
        </p:nvPicPr>
        <p:blipFill>
          <a:blip r:embed="rId4"/>
          <a:stretch>
            <a:fillRect/>
          </a:stretch>
        </p:blipFill>
        <p:spPr>
          <a:xfrm>
            <a:off x="7756855" y="3218688"/>
            <a:ext cx="365760" cy="329184"/>
          </a:xfrm>
          <a:prstGeom prst="rect">
            <a:avLst/>
          </a:prstGeom>
        </p:spPr>
      </p:pic>
      <p:sp>
        <p:nvSpPr>
          <p:cNvPr id="13" name="card"/>
          <p:cNvSpPr/>
          <p:nvPr/>
        </p:nvSpPr>
        <p:spPr>
          <a:xfrm>
            <a:off x="8351215" y="4206240"/>
            <a:ext cx="3291840" cy="1097280"/>
          </a:xfrm>
          <a:prstGeom prst="roundRect">
            <a:avLst>
              <a:gd name="adj" fmla="val 10000"/>
            </a:avLst>
          </a:prstGeom>
          <a:solidFill>
            <a:schemeClr val="tx2"/>
          </a:solidFill>
          <a:ln w="12700">
            <a:solidFill>
              <a:schemeClr val="accent5"/>
            </a:solidFill>
            <a:prstDash val="solid"/>
          </a:ln>
        </p:spPr>
      </p:sp>
      <p:sp>
        <p:nvSpPr>
          <p:cNvPr id="14" name="icon-circle"/>
          <p:cNvSpPr/>
          <p:nvPr/>
        </p:nvSpPr>
        <p:spPr>
          <a:xfrm>
            <a:off x="10728655" y="4407408"/>
            <a:ext cx="694944" cy="694944"/>
          </a:xfrm>
          <a:prstGeom prst="ellipse">
            <a:avLst/>
          </a:prstGeom>
          <a:solidFill>
            <a:schemeClr val="tx1"/>
          </a:solidFill>
          <a:ln w="19050">
            <a:solidFill>
              <a:schemeClr val="accent1"/>
            </a:solidFill>
            <a:prstDash val="solid"/>
          </a:ln>
        </p:spPr>
      </p:sp>
      <p:pic>
        <p:nvPicPr>
          <p:cNvPr id="15" name="icon" descr="FaGlobe">    </p:cNvPr>
          <p:cNvPicPr>
            <a:picLocks noChangeAspect="1"/>
          </p:cNvPicPr>
          <p:nvPr/>
        </p:nvPicPr>
        <p:blipFill>
          <a:blip r:embed="rId5"/>
          <a:stretch>
            <a:fillRect/>
          </a:stretch>
        </p:blipFill>
        <p:spPr>
          <a:xfrm>
            <a:off x="10902391" y="4581144"/>
            <a:ext cx="347472" cy="347472"/>
          </a:xfrm>
          <a:prstGeom prst="rect">
            <a:avLst/>
          </a:prstGeom>
        </p:spPr>
      </p:pic>
      <p:sp>
        <p:nvSpPr>
          <p:cNvPr id="16" name="Text 9"/>
          <p:cNvSpPr txBox="1"/>
          <p:nvPr/>
        </p:nvSpPr>
        <p:spPr>
          <a:xfrm>
            <a:off x="8579815" y="4553712"/>
            <a:ext cx="2011680" cy="411480"/>
          </a:xfrm>
          <a:prstGeom prst="rect">
            <a:avLst/>
          </a:prstGeom>
          <a:noFill/>
          <a:ln/>
        </p:spPr>
        <p:txBody>
          <a:bodyPr wrap="square" lIns="0" tIns="0" rIns="0" bIns="0" rtlCol="0" anchor="t"/>
          <a:lstStyle/>
          <a:p>
            <a:pPr rtl="1" algn="r" indent="0" marL="0">
              <a:buNone/>
            </a:pPr>
            <a:r>
              <a:rPr lang="ar-SA" altLang="en-US" sz="1900" b="1" dirty="0">
                <a:solidFill>
                  <a:schemeClr val="bg1"/>
                </a:solidFill>
              </a:rPr>
              <a:t>المراقبة</a:t>
            </a:r>
            <a:endParaRPr lang="ar-SA" sz="1900" dirty="0"/>
          </a:p>
        </p:txBody>
      </p:sp>
      <p:pic>
        <p:nvPicPr>
          <p:cNvPr id="17" name="arrow" descr="سهم">    </p:cNvPr>
          <p:cNvPicPr>
            <a:picLocks noChangeAspect="1"/>
          </p:cNvPicPr>
          <p:nvPr/>
        </p:nvPicPr>
        <p:blipFill>
          <a:blip r:embed="rId6"/>
          <a:stretch>
            <a:fillRect/>
          </a:stretch>
        </p:blipFill>
        <p:spPr>
          <a:xfrm>
            <a:off x="7756855" y="4590288"/>
            <a:ext cx="365760" cy="329184"/>
          </a:xfrm>
          <a:prstGeom prst="rect">
            <a:avLst/>
          </a:prstGeom>
        </p:spPr>
      </p:pic>
      <p:sp>
        <p:nvSpPr>
          <p:cNvPr id="18" name="card"/>
          <p:cNvSpPr/>
          <p:nvPr/>
        </p:nvSpPr>
        <p:spPr>
          <a:xfrm>
            <a:off x="4160520" y="1463040"/>
            <a:ext cx="3566160" cy="3840480"/>
          </a:xfrm>
          <a:prstGeom prst="roundRect">
            <a:avLst>
              <a:gd name="adj" fmla="val 3077"/>
            </a:avLst>
          </a:prstGeom>
          <a:solidFill>
            <a:schemeClr val="tx2"/>
          </a:solidFill>
          <a:ln w="25400">
            <a:solidFill>
              <a:schemeClr val="accent1"/>
            </a:solidFill>
            <a:prstDash val="solid"/>
          </a:ln>
        </p:spPr>
      </p:sp>
      <p:sp>
        <p:nvSpPr>
          <p:cNvPr id="19" name="icon-circle"/>
          <p:cNvSpPr/>
          <p:nvPr/>
        </p:nvSpPr>
        <p:spPr>
          <a:xfrm>
            <a:off x="5541264" y="1737360"/>
            <a:ext cx="822960" cy="822960"/>
          </a:xfrm>
          <a:prstGeom prst="ellipse">
            <a:avLst/>
          </a:prstGeom>
          <a:solidFill>
            <a:schemeClr val="tx1"/>
          </a:solidFill>
          <a:ln w="19050">
            <a:solidFill>
              <a:schemeClr val="accent1"/>
            </a:solidFill>
            <a:prstDash val="solid"/>
          </a:ln>
        </p:spPr>
      </p:sp>
      <p:pic>
        <p:nvPicPr>
          <p:cNvPr id="20" name="icon" descr="FaBrain">    </p:cNvPr>
          <p:cNvPicPr>
            <a:picLocks noChangeAspect="1"/>
          </p:cNvPicPr>
          <p:nvPr/>
        </p:nvPicPr>
        <p:blipFill>
          <a:blip r:embed="rId7"/>
          <a:stretch>
            <a:fillRect/>
          </a:stretch>
        </p:blipFill>
        <p:spPr>
          <a:xfrm>
            <a:off x="5747004" y="1943100"/>
            <a:ext cx="411480" cy="411480"/>
          </a:xfrm>
          <a:prstGeom prst="rect">
            <a:avLst/>
          </a:prstGeom>
        </p:spPr>
      </p:pic>
      <p:sp>
        <p:nvSpPr>
          <p:cNvPr id="21" name="Text 12"/>
          <p:cNvSpPr txBox="1"/>
          <p:nvPr/>
        </p:nvSpPr>
        <p:spPr>
          <a:xfrm>
            <a:off x="4343400" y="2697480"/>
            <a:ext cx="3200400" cy="457200"/>
          </a:xfrm>
          <a:prstGeom prst="rect">
            <a:avLst/>
          </a:prstGeom>
          <a:noFill/>
          <a:ln/>
        </p:spPr>
        <p:txBody>
          <a:bodyPr wrap="square" lIns="0" tIns="0" rIns="0" bIns="0" rtlCol="0" anchor="t"/>
          <a:lstStyle/>
          <a:p>
            <a:pPr rtl="1" algn="ctr" indent="0" marL="0">
              <a:buNone/>
            </a:pPr>
            <a:r>
              <a:rPr lang="ar-SA" altLang="en-US" sz="2400" b="1" dirty="0">
                <a:solidFill>
                  <a:schemeClr val="bg1"/>
                </a:solidFill>
              </a:rPr>
              <a:t>المنسّق</a:t>
            </a:r>
            <a:endParaRPr lang="ar-SA" sz="2400" dirty="0"/>
          </a:p>
        </p:txBody>
      </p:sp>
      <p:sp>
        <p:nvSpPr>
          <p:cNvPr id="22" name="Text 13"/>
          <p:cNvSpPr txBox="1"/>
          <p:nvPr/>
        </p:nvSpPr>
        <p:spPr>
          <a:xfrm>
            <a:off x="4434840" y="3291840"/>
            <a:ext cx="3017520" cy="1828800"/>
          </a:xfrm>
          <a:prstGeom prst="rect">
            <a:avLst/>
          </a:prstGeom>
          <a:noFill/>
          <a:ln/>
        </p:spPr>
        <p:txBody>
          <a:bodyPr wrap="square" lIns="0" tIns="0" rIns="0" bIns="0" rtlCol="0" anchor="t"/>
          <a:lstStyle/>
          <a:p>
            <a:pPr rtl="1" algn="r" marL="342900" indent="-342900">
              <a:spcAft>
                <a:spcPts val="600"/>
              </a:spcAft>
              <a:buSzPct val="100000"/>
              <a:buChar char="•"/>
            </a:pPr>
            <a:r>
              <a:rPr lang="ar-SA" altLang="en-US" sz="1500" dirty="0">
                <a:solidFill>
                  <a:schemeClr val="bg2"/>
                </a:solidFill>
              </a:rPr>
              <a:t>يقرأ تقارير المتخصصين</a:t>
            </a:r>
            <a:endParaRPr lang="ar-SA" sz="1500" dirty="0"/>
          </a:p>
          <a:p>
            <a:pPr rtl="1" algn="r" marL="342900" indent="-342900">
              <a:spcAft>
                <a:spcPts val="600"/>
              </a:spcAft>
              <a:buSzPct val="100000"/>
              <a:buChar char="•"/>
            </a:pPr>
            <a:r>
              <a:rPr lang="ar-SA" altLang="en-US" sz="1500" dirty="0">
                <a:solidFill>
                  <a:schemeClr val="bg2"/>
                </a:solidFill>
              </a:rPr>
              <a:t>يبني ملف كل مهاجم عبر المصادر</a:t>
            </a:r>
            <a:endParaRPr lang="ar-SA" sz="1500" dirty="0"/>
          </a:p>
          <a:p>
            <a:pPr rtl="1" algn="r" marL="342900" indent="-342900">
              <a:spcAft>
                <a:spcPts val="600"/>
              </a:spcAft>
              <a:buSzPct val="100000"/>
              <a:buChar char="•"/>
            </a:pPr>
            <a:r>
              <a:rPr lang="ar-SA" altLang="en-US" sz="1500" dirty="0">
                <a:solidFill>
                  <a:schemeClr val="bg2"/>
                </a:solidFill>
              </a:rPr>
              <a:t>يفحص السياسة والحد الأقصى</a:t>
            </a:r>
            <a:endParaRPr lang="ar-SA" sz="1500" dirty="0"/>
          </a:p>
          <a:p>
            <a:pPr rtl="1" algn="r" marL="342900" indent="-342900">
              <a:spcAft>
                <a:spcPts val="600"/>
              </a:spcAft>
              <a:buSzPct val="100000"/>
              <a:buChar char="•"/>
            </a:pPr>
            <a:r>
              <a:rPr lang="ar-SA" altLang="en-US" sz="1500" dirty="0">
                <a:solidFill>
                  <a:schemeClr val="bg2"/>
                </a:solidFill>
              </a:rPr>
              <a:t>يكتب تقريرًا واحدًا بمراحل</a:t>
            </a:r>
            <a:endParaRPr lang="ar-SA" sz="1500" dirty="0"/>
          </a:p>
        </p:txBody>
      </p:sp>
      <p:pic>
        <p:nvPicPr>
          <p:cNvPr id="23" name="arrow" descr="سهم">    </p:cNvPr>
          <p:cNvPicPr>
            <a:picLocks noChangeAspect="1"/>
          </p:cNvPicPr>
          <p:nvPr/>
        </p:nvPicPr>
        <p:blipFill>
          <a:blip r:embed="rId8"/>
          <a:stretch>
            <a:fillRect/>
          </a:stretch>
        </p:blipFill>
        <p:spPr>
          <a:xfrm>
            <a:off x="3657600" y="3200400"/>
            <a:ext cx="365760" cy="329184"/>
          </a:xfrm>
          <a:prstGeom prst="rect">
            <a:avLst/>
          </a:prstGeom>
        </p:spPr>
      </p:pic>
      <p:sp>
        <p:nvSpPr>
          <p:cNvPr id="24" name="card"/>
          <p:cNvSpPr/>
          <p:nvPr/>
        </p:nvSpPr>
        <p:spPr>
          <a:xfrm>
            <a:off x="548640" y="1463040"/>
            <a:ext cx="2971800" cy="3840480"/>
          </a:xfrm>
          <a:prstGeom prst="roundRect">
            <a:avLst>
              <a:gd name="adj" fmla="val 3692"/>
            </a:avLst>
          </a:prstGeom>
          <a:solidFill>
            <a:schemeClr val="tx2"/>
          </a:solidFill>
          <a:ln w="25400">
            <a:solidFill>
              <a:schemeClr val="accent2"/>
            </a:solidFill>
            <a:prstDash val="solid"/>
          </a:ln>
        </p:spPr>
      </p:sp>
      <p:sp>
        <p:nvSpPr>
          <p:cNvPr id="25" name="icon-circle"/>
          <p:cNvSpPr/>
          <p:nvPr/>
        </p:nvSpPr>
        <p:spPr>
          <a:xfrm>
            <a:off x="1691640" y="1737360"/>
            <a:ext cx="731520" cy="731520"/>
          </a:xfrm>
          <a:prstGeom prst="ellipse">
            <a:avLst/>
          </a:prstGeom>
          <a:solidFill>
            <a:schemeClr val="tx1"/>
          </a:solidFill>
          <a:ln w="19050">
            <a:solidFill>
              <a:schemeClr val="accent2"/>
            </a:solidFill>
            <a:prstDash val="solid"/>
          </a:ln>
        </p:spPr>
      </p:sp>
      <p:pic>
        <p:nvPicPr>
          <p:cNvPr id="26" name="icon" descr="FaUserShield">    </p:cNvPr>
          <p:cNvPicPr>
            <a:picLocks noChangeAspect="1"/>
          </p:cNvPicPr>
          <p:nvPr/>
        </p:nvPicPr>
        <p:blipFill>
          <a:blip r:embed="rId9"/>
          <a:stretch>
            <a:fillRect/>
          </a:stretch>
        </p:blipFill>
        <p:spPr>
          <a:xfrm>
            <a:off x="1874520" y="1920240"/>
            <a:ext cx="365760" cy="365760"/>
          </a:xfrm>
          <a:prstGeom prst="rect">
            <a:avLst/>
          </a:prstGeom>
        </p:spPr>
      </p:pic>
      <p:sp>
        <p:nvSpPr>
          <p:cNvPr id="27" name="Text 16"/>
          <p:cNvSpPr txBox="1"/>
          <p:nvPr/>
        </p:nvSpPr>
        <p:spPr>
          <a:xfrm>
            <a:off x="731520" y="2651760"/>
            <a:ext cx="2606040" cy="457200"/>
          </a:xfrm>
          <a:prstGeom prst="rect">
            <a:avLst/>
          </a:prstGeom>
          <a:noFill/>
          <a:ln/>
        </p:spPr>
        <p:txBody>
          <a:bodyPr wrap="square" lIns="0" tIns="0" rIns="0" bIns="0" rtlCol="0" anchor="t"/>
          <a:lstStyle/>
          <a:p>
            <a:pPr rtl="1" algn="ctr" indent="0" marL="0">
              <a:buNone/>
            </a:pPr>
            <a:r>
              <a:rPr lang="ar-SA" altLang="en-US" sz="2100" b="1" dirty="0">
                <a:solidFill>
                  <a:schemeClr val="bg1"/>
                </a:solidFill>
              </a:rPr>
              <a:t>لصاحب المنشأة</a:t>
            </a:r>
            <a:endParaRPr lang="ar-SA" sz="2100" dirty="0"/>
          </a:p>
        </p:txBody>
      </p:sp>
      <p:sp>
        <p:nvSpPr>
          <p:cNvPr id="28" name="Text 17"/>
          <p:cNvSpPr txBox="1"/>
          <p:nvPr/>
        </p:nvSpPr>
        <p:spPr>
          <a:xfrm>
            <a:off x="777240" y="3246120"/>
            <a:ext cx="2514600" cy="1828800"/>
          </a:xfrm>
          <a:prstGeom prst="rect">
            <a:avLst/>
          </a:prstGeom>
          <a:noFill/>
          <a:ln/>
        </p:spPr>
        <p:txBody>
          <a:bodyPr wrap="square" lIns="0" tIns="0" rIns="0" bIns="0" rtlCol="0" anchor="t"/>
          <a:lstStyle/>
          <a:p>
            <a:pPr rtl="1" algn="r" marL="342900" indent="-342900">
              <a:spcAft>
                <a:spcPts val="600"/>
              </a:spcAft>
              <a:buSzPct val="100000"/>
              <a:buChar char="•"/>
            </a:pPr>
            <a:r>
              <a:rPr lang="ar-SA" altLang="en-US" sz="1500" dirty="0">
                <a:solidFill>
                  <a:schemeClr val="bg2"/>
                </a:solidFill>
              </a:rPr>
              <a:t>ماذا حدث، بلغة بسيطة</a:t>
            </a:r>
            <a:endParaRPr lang="ar-SA" sz="1500" dirty="0"/>
          </a:p>
          <a:p>
            <a:pPr rtl="1" algn="r" marL="342900" indent="-342900">
              <a:spcAft>
                <a:spcPts val="600"/>
              </a:spcAft>
              <a:buSzPct val="100000"/>
              <a:buChar char="•"/>
            </a:pPr>
            <a:r>
              <a:rPr lang="ar-SA" altLang="en-US" sz="1500" dirty="0">
                <a:solidFill>
                  <a:schemeClr val="bg2"/>
                </a:solidFill>
              </a:rPr>
              <a:t>ما الخطر الآن</a:t>
            </a:r>
            <a:endParaRPr lang="ar-SA" sz="1500" dirty="0"/>
          </a:p>
          <a:p>
            <a:pPr rtl="1" algn="r" marL="342900" indent="-342900">
              <a:spcAft>
                <a:spcPts val="600"/>
              </a:spcAft>
              <a:buSzPct val="100000"/>
              <a:buChar char="•"/>
            </a:pPr>
            <a:r>
              <a:rPr lang="ar-SA" altLang="en-US" sz="1500" dirty="0">
                <a:solidFill>
                  <a:schemeClr val="bg2"/>
                </a:solidFill>
              </a:rPr>
              <a:t>إجراء واحد لكل مهاجم</a:t>
            </a:r>
            <a:endParaRPr lang="ar-SA" sz="1500" dirty="0"/>
          </a:p>
          <a:p>
            <a:pPr rtl="1" algn="r" marL="342900" indent="-342900">
              <a:spcAft>
                <a:spcPts val="600"/>
              </a:spcAft>
              <a:buSzPct val="100000"/>
              <a:buChar char="•"/>
            </a:pPr>
            <a:r>
              <a:rPr lang="ar-SA" altLang="en-US" sz="1500" dirty="0">
                <a:solidFill>
                  <a:schemeClr val="bg2"/>
                </a:solidFill>
              </a:rPr>
              <a:t>ينتظر موافقته</a:t>
            </a:r>
            <a:endParaRPr lang="ar-SA" sz="1500" dirty="0"/>
          </a:p>
        </p:txBody>
      </p:sp>
      <p:sp>
        <p:nvSpPr>
          <p:cNvPr id="29" name="Text 18"/>
          <p:cNvSpPr txBox="1"/>
          <p:nvPr/>
        </p:nvSpPr>
        <p:spPr>
          <a:xfrm>
            <a:off x="548640" y="5623560"/>
            <a:ext cx="11094415" cy="411480"/>
          </a:xfrm>
          <a:prstGeom prst="rect">
            <a:avLst/>
          </a:prstGeom>
          <a:noFill/>
          <a:ln/>
        </p:spPr>
        <p:txBody>
          <a:bodyPr wrap="square" lIns="0" tIns="0" rIns="0" bIns="0" rtlCol="0" anchor="t"/>
          <a:lstStyle/>
          <a:p>
            <a:pPr rtl="1" algn="ctr" indent="0" marL="0">
              <a:buNone/>
            </a:pPr>
            <a:r>
              <a:rPr lang="ar-SA" altLang="en-US" sz="1500" dirty="0">
                <a:solidFill>
                  <a:schemeClr val="accent6"/>
                </a:solidFill>
              </a:rPr>
              <a:t>وكلاء Claude بأدوات تستدعي طبقات النظام الحقيقية · بلا مفتاح يعمل وضع عرض بنفس الأدوات</a:t>
            </a:r>
            <a:endParaRPr lang="ar-SA" sz="15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ثلاث حوادث… حملة واحدة</a:t>
            </a:r>
            <a:endParaRPr lang="en-US" sz="3400" dirty="0"/>
          </a:p>
        </p:txBody>
      </p:sp>
      <p:sp>
        <p:nvSpPr>
          <p:cNvPr id="3" name="card"/>
          <p:cNvSpPr/>
          <p:nvPr/>
        </p:nvSpPr>
        <p:spPr>
          <a:xfrm>
            <a:off x="9677095" y="1508760"/>
            <a:ext cx="1965960" cy="1737360"/>
          </a:xfrm>
          <a:prstGeom prst="roundRect">
            <a:avLst>
              <a:gd name="adj" fmla="val 6316"/>
            </a:avLst>
          </a:prstGeom>
          <a:solidFill>
            <a:schemeClr val="tx2"/>
          </a:solidFill>
          <a:ln w="19050">
            <a:solidFill>
              <a:schemeClr val="accent4"/>
            </a:solidFill>
            <a:prstDash val="solid"/>
          </a:ln>
        </p:spPr>
      </p:sp>
      <p:sp>
        <p:nvSpPr>
          <p:cNvPr id="4" name="Text 2"/>
          <p:cNvSpPr txBox="1"/>
          <p:nvPr/>
        </p:nvSpPr>
        <p:spPr>
          <a:xfrm>
            <a:off x="9814255" y="1691640"/>
            <a:ext cx="1691640" cy="411480"/>
          </a:xfrm>
          <a:prstGeom prst="rect">
            <a:avLst/>
          </a:prstGeom>
          <a:noFill/>
          <a:ln/>
        </p:spPr>
        <p:txBody>
          <a:bodyPr wrap="square" lIns="0" tIns="0" rIns="0" bIns="0" rtlCol="0" anchor="t"/>
          <a:lstStyle/>
          <a:p>
            <a:pPr rtl="1" algn="ctr" indent="0" marL="0">
              <a:buNone/>
            </a:pPr>
            <a:r>
              <a:rPr lang="ar-SA" altLang="en-US" sz="1800" b="1" dirty="0">
                <a:solidFill>
                  <a:schemeClr val="accent4"/>
                </a:solidFill>
              </a:rPr>
              <a:t>ثغرة مكشوفة</a:t>
            </a:r>
            <a:endParaRPr lang="ar-SA" sz="1800" dirty="0"/>
          </a:p>
        </p:txBody>
      </p:sp>
      <p:sp>
        <p:nvSpPr>
          <p:cNvPr id="5" name="Text 3"/>
          <p:cNvSpPr txBox="1"/>
          <p:nvPr/>
        </p:nvSpPr>
        <p:spPr>
          <a:xfrm>
            <a:off x="9814255" y="2240280"/>
            <a:ext cx="1691640" cy="86868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المراقبة: ملف الإعدادات مكشوف</a:t>
            </a:r>
            <a:endParaRPr lang="ar-SA" sz="1500" dirty="0"/>
          </a:p>
        </p:txBody>
      </p:sp>
      <p:pic>
        <p:nvPicPr>
          <p:cNvPr id="6" name="arrow" descr="سهم">    </p:cNvPr>
          <p:cNvPicPr>
            <a:picLocks noChangeAspect="1"/>
          </p:cNvPicPr>
          <p:nvPr/>
        </p:nvPicPr>
        <p:blipFill>
          <a:blip r:embed="rId1"/>
          <a:stretch>
            <a:fillRect/>
          </a:stretch>
        </p:blipFill>
        <p:spPr>
          <a:xfrm>
            <a:off x="9393631" y="2240280"/>
            <a:ext cx="265176" cy="265176"/>
          </a:xfrm>
          <a:prstGeom prst="rect">
            <a:avLst/>
          </a:prstGeom>
        </p:spPr>
      </p:pic>
      <p:sp>
        <p:nvSpPr>
          <p:cNvPr id="7" name="card"/>
          <p:cNvSpPr/>
          <p:nvPr/>
        </p:nvSpPr>
        <p:spPr>
          <a:xfrm>
            <a:off x="7409383" y="1508760"/>
            <a:ext cx="1965960" cy="1737360"/>
          </a:xfrm>
          <a:prstGeom prst="roundRect">
            <a:avLst>
              <a:gd name="adj" fmla="val 6316"/>
            </a:avLst>
          </a:prstGeom>
          <a:solidFill>
            <a:schemeClr val="tx2"/>
          </a:solidFill>
          <a:ln w="19050">
            <a:solidFill>
              <a:schemeClr val="accent1"/>
            </a:solidFill>
            <a:prstDash val="solid"/>
          </a:ln>
        </p:spPr>
      </p:sp>
      <p:sp>
        <p:nvSpPr>
          <p:cNvPr id="8" name="Text 5"/>
          <p:cNvSpPr txBox="1"/>
          <p:nvPr/>
        </p:nvSpPr>
        <p:spPr>
          <a:xfrm>
            <a:off x="7546543" y="1691640"/>
            <a:ext cx="1691640" cy="411480"/>
          </a:xfrm>
          <a:prstGeom prst="rect">
            <a:avLst/>
          </a:prstGeom>
          <a:noFill/>
          <a:ln/>
        </p:spPr>
        <p:txBody>
          <a:bodyPr wrap="square" lIns="0" tIns="0" rIns="0" bIns="0" rtlCol="0" anchor="t"/>
          <a:lstStyle/>
          <a:p>
            <a:pPr rtl="1" algn="ctr" indent="0" marL="0">
              <a:buNone/>
            </a:pPr>
            <a:r>
              <a:rPr lang="ar-SA" altLang="en-US" sz="1800" b="1" dirty="0">
                <a:solidFill>
                  <a:schemeClr val="accent1"/>
                </a:solidFill>
              </a:rPr>
              <a:t>استطلاع</a:t>
            </a:r>
            <a:endParaRPr lang="ar-SA" sz="1800" dirty="0"/>
          </a:p>
        </p:txBody>
      </p:sp>
      <p:sp>
        <p:nvSpPr>
          <p:cNvPr id="9" name="Text 6"/>
          <p:cNvSpPr txBox="1"/>
          <p:nvPr/>
        </p:nvSpPr>
        <p:spPr>
          <a:xfrm>
            <a:off x="7546543" y="2240280"/>
            <a:ext cx="1691640" cy="86868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الشبكة: فحص منافذ</a:t>
            </a:r>
            <a:endParaRPr lang="ar-SA" sz="1500" dirty="0"/>
          </a:p>
        </p:txBody>
      </p:sp>
      <p:pic>
        <p:nvPicPr>
          <p:cNvPr id="10" name="arrow" descr="سهم">    </p:cNvPr>
          <p:cNvPicPr>
            <a:picLocks noChangeAspect="1"/>
          </p:cNvPicPr>
          <p:nvPr/>
        </p:nvPicPr>
        <p:blipFill>
          <a:blip r:embed="rId2"/>
          <a:stretch>
            <a:fillRect/>
          </a:stretch>
        </p:blipFill>
        <p:spPr>
          <a:xfrm>
            <a:off x="7125919" y="2240280"/>
            <a:ext cx="265176" cy="265176"/>
          </a:xfrm>
          <a:prstGeom prst="rect">
            <a:avLst/>
          </a:prstGeom>
        </p:spPr>
      </p:pic>
      <p:sp>
        <p:nvSpPr>
          <p:cNvPr id="11" name="card"/>
          <p:cNvSpPr/>
          <p:nvPr/>
        </p:nvSpPr>
        <p:spPr>
          <a:xfrm>
            <a:off x="5141671" y="1508760"/>
            <a:ext cx="1965960" cy="1737360"/>
          </a:xfrm>
          <a:prstGeom prst="roundRect">
            <a:avLst>
              <a:gd name="adj" fmla="val 6316"/>
            </a:avLst>
          </a:prstGeom>
          <a:solidFill>
            <a:schemeClr val="tx2"/>
          </a:solidFill>
          <a:ln w="19050">
            <a:solidFill>
              <a:schemeClr val="accent1"/>
            </a:solidFill>
            <a:prstDash val="solid"/>
          </a:ln>
        </p:spPr>
      </p:sp>
      <p:sp>
        <p:nvSpPr>
          <p:cNvPr id="12" name="Text 8"/>
          <p:cNvSpPr txBox="1"/>
          <p:nvPr/>
        </p:nvSpPr>
        <p:spPr>
          <a:xfrm>
            <a:off x="5278831" y="1691640"/>
            <a:ext cx="1691640" cy="411480"/>
          </a:xfrm>
          <a:prstGeom prst="rect">
            <a:avLst/>
          </a:prstGeom>
          <a:noFill/>
          <a:ln/>
        </p:spPr>
        <p:txBody>
          <a:bodyPr wrap="square" lIns="0" tIns="0" rIns="0" bIns="0" rtlCol="0" anchor="t"/>
          <a:lstStyle/>
          <a:p>
            <a:pPr rtl="1" algn="ctr" indent="0" marL="0">
              <a:buNone/>
            </a:pPr>
            <a:r>
              <a:rPr lang="ar-SA" altLang="en-US" sz="1800" b="1" dirty="0">
                <a:solidFill>
                  <a:schemeClr val="accent1"/>
                </a:solidFill>
              </a:rPr>
              <a:t>استطلاع</a:t>
            </a:r>
            <a:endParaRPr lang="ar-SA" sz="1800" dirty="0"/>
          </a:p>
        </p:txBody>
      </p:sp>
      <p:sp>
        <p:nvSpPr>
          <p:cNvPr id="13" name="Text 9"/>
          <p:cNvSpPr txBox="1"/>
          <p:nvPr/>
        </p:nvSpPr>
        <p:spPr>
          <a:xfrm>
            <a:off x="5278831" y="2240280"/>
            <a:ext cx="1691640" cy="86868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السجلات: فحص مسارات</a:t>
            </a:r>
            <a:endParaRPr lang="ar-SA" sz="1500" dirty="0"/>
          </a:p>
        </p:txBody>
      </p:sp>
      <p:pic>
        <p:nvPicPr>
          <p:cNvPr id="14" name="arrow" descr="سهم">    </p:cNvPr>
          <p:cNvPicPr>
            <a:picLocks noChangeAspect="1"/>
          </p:cNvPicPr>
          <p:nvPr/>
        </p:nvPicPr>
        <p:blipFill>
          <a:blip r:embed="rId3"/>
          <a:stretch>
            <a:fillRect/>
          </a:stretch>
        </p:blipFill>
        <p:spPr>
          <a:xfrm>
            <a:off x="4858207" y="2240280"/>
            <a:ext cx="265176" cy="265176"/>
          </a:xfrm>
          <a:prstGeom prst="rect">
            <a:avLst/>
          </a:prstGeom>
        </p:spPr>
      </p:pic>
      <p:sp>
        <p:nvSpPr>
          <p:cNvPr id="15" name="card"/>
          <p:cNvSpPr/>
          <p:nvPr/>
        </p:nvSpPr>
        <p:spPr>
          <a:xfrm>
            <a:off x="2873959" y="1508760"/>
            <a:ext cx="1965960" cy="1737360"/>
          </a:xfrm>
          <a:prstGeom prst="roundRect">
            <a:avLst>
              <a:gd name="adj" fmla="val 6316"/>
            </a:avLst>
          </a:prstGeom>
          <a:solidFill>
            <a:schemeClr val="tx2"/>
          </a:solidFill>
          <a:ln w="19050">
            <a:solidFill>
              <a:schemeClr val="accent3"/>
            </a:solidFill>
            <a:prstDash val="solid"/>
          </a:ln>
        </p:spPr>
      </p:sp>
      <p:sp>
        <p:nvSpPr>
          <p:cNvPr id="16" name="Text 11"/>
          <p:cNvSpPr txBox="1"/>
          <p:nvPr/>
        </p:nvSpPr>
        <p:spPr>
          <a:xfrm>
            <a:off x="3011119" y="1691640"/>
            <a:ext cx="1691640" cy="411480"/>
          </a:xfrm>
          <a:prstGeom prst="rect">
            <a:avLst/>
          </a:prstGeom>
          <a:noFill/>
          <a:ln/>
        </p:spPr>
        <p:txBody>
          <a:bodyPr wrap="square" lIns="0" tIns="0" rIns="0" bIns="0" rtlCol="0" anchor="t"/>
          <a:lstStyle/>
          <a:p>
            <a:pPr rtl="1" algn="ctr" indent="0" marL="0">
              <a:buNone/>
            </a:pPr>
            <a:r>
              <a:rPr lang="ar-SA" altLang="en-US" sz="1800" b="1" dirty="0">
                <a:solidFill>
                  <a:schemeClr val="accent3"/>
                </a:solidFill>
              </a:rPr>
              <a:t>تسريب</a:t>
            </a:r>
            <a:endParaRPr lang="ar-SA" sz="1800" dirty="0"/>
          </a:p>
        </p:txBody>
      </p:sp>
      <p:sp>
        <p:nvSpPr>
          <p:cNvPr id="17" name="Text 12"/>
          <p:cNvSpPr txBox="1"/>
          <p:nvPr/>
        </p:nvSpPr>
        <p:spPr>
          <a:xfrm>
            <a:off x="3011119" y="2240280"/>
            <a:ext cx="1691640" cy="868680"/>
          </a:xfrm>
          <a:prstGeom prst="rect">
            <a:avLst/>
          </a:prstGeom>
          <a:noFill/>
          <a:ln/>
        </p:spPr>
        <p:txBody>
          <a:bodyPr wrap="square" lIns="0" tIns="0" rIns="0" bIns="0" rtlCol="0" anchor="t"/>
          <a:lstStyle/>
          <a:p>
            <a:pPr rtl="1" algn="ctr" indent="0" marL="0">
              <a:buNone/>
            </a:pPr>
            <a:r>
              <a:rPr lang="ar-SA" altLang="en-US" sz="1500" dirty="0">
                <a:solidFill>
                  <a:schemeClr val="bg1"/>
                </a:solidFill>
              </a:rPr>
              <a:t>حُمّل الملف المكشوف (200)</a:t>
            </a:r>
            <a:endParaRPr lang="ar-SA" sz="1500" dirty="0"/>
          </a:p>
        </p:txBody>
      </p:sp>
      <p:pic>
        <p:nvPicPr>
          <p:cNvPr id="18" name="arrow" descr="سهم">    </p:cNvPr>
          <p:cNvPicPr>
            <a:picLocks noChangeAspect="1"/>
          </p:cNvPicPr>
          <p:nvPr/>
        </p:nvPicPr>
        <p:blipFill>
          <a:blip r:embed="rId4"/>
          <a:stretch>
            <a:fillRect/>
          </a:stretch>
        </p:blipFill>
        <p:spPr>
          <a:xfrm>
            <a:off x="2590495" y="2240280"/>
            <a:ext cx="265176" cy="265176"/>
          </a:xfrm>
          <a:prstGeom prst="rect">
            <a:avLst/>
          </a:prstGeom>
        </p:spPr>
      </p:pic>
      <p:sp>
        <p:nvSpPr>
          <p:cNvPr id="19" name="card"/>
          <p:cNvSpPr/>
          <p:nvPr/>
        </p:nvSpPr>
        <p:spPr>
          <a:xfrm>
            <a:off x="606247" y="1508760"/>
            <a:ext cx="1965960" cy="1737360"/>
          </a:xfrm>
          <a:prstGeom prst="roundRect">
            <a:avLst>
              <a:gd name="adj" fmla="val 6316"/>
            </a:avLst>
          </a:prstGeom>
          <a:solidFill>
            <a:schemeClr val="tx2"/>
          </a:solidFill>
          <a:ln w="19050">
            <a:solidFill>
              <a:schemeClr val="accent3"/>
            </a:solidFill>
            <a:prstDash val="solid"/>
          </a:ln>
        </p:spPr>
      </p:sp>
      <p:sp>
        <p:nvSpPr>
          <p:cNvPr id="20" name="Text 14"/>
          <p:cNvSpPr txBox="1"/>
          <p:nvPr/>
        </p:nvSpPr>
        <p:spPr>
          <a:xfrm>
            <a:off x="743407" y="1691640"/>
            <a:ext cx="1691640" cy="411480"/>
          </a:xfrm>
          <a:prstGeom prst="rect">
            <a:avLst/>
          </a:prstGeom>
          <a:noFill/>
          <a:ln/>
        </p:spPr>
        <p:txBody>
          <a:bodyPr wrap="square" lIns="0" tIns="0" rIns="0" bIns="0" rtlCol="0" anchor="t"/>
          <a:lstStyle/>
          <a:p>
            <a:pPr rtl="1" algn="ctr" indent="0" marL="0">
              <a:buNone/>
            </a:pPr>
            <a:r>
              <a:rPr lang="ar-SA" altLang="en-US" sz="1800" b="1" dirty="0">
                <a:solidFill>
                  <a:schemeClr val="accent3"/>
                </a:solidFill>
              </a:rPr>
              <a:t>محاولة دخول</a:t>
            </a:r>
            <a:endParaRPr lang="ar-SA" sz="1800" dirty="0"/>
          </a:p>
        </p:txBody>
      </p:sp>
      <p:sp>
        <p:nvSpPr>
          <p:cNvPr id="21" name="Text 15"/>
          <p:cNvSpPr txBox="1"/>
          <p:nvPr/>
        </p:nvSpPr>
        <p:spPr>
          <a:xfrm>
            <a:off x="743407" y="2240280"/>
            <a:ext cx="1691640" cy="86868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السجلات: تخمين كلمات المرور</a:t>
            </a:r>
            <a:endParaRPr lang="ar-SA" sz="1500" dirty="0"/>
          </a:p>
        </p:txBody>
      </p:sp>
      <p:sp>
        <p:nvSpPr>
          <p:cNvPr id="22" name="card"/>
          <p:cNvSpPr/>
          <p:nvPr/>
        </p:nvSpPr>
        <p:spPr>
          <a:xfrm>
            <a:off x="6248095" y="3657600"/>
            <a:ext cx="5394960" cy="1874520"/>
          </a:xfrm>
          <a:prstGeom prst="roundRect">
            <a:avLst>
              <a:gd name="adj" fmla="val 5854"/>
            </a:avLst>
          </a:prstGeom>
          <a:solidFill>
            <a:schemeClr val="tx2"/>
          </a:solidFill>
          <a:ln w="12700">
            <a:solidFill>
              <a:schemeClr val="accent5"/>
            </a:solidFill>
            <a:prstDash val="solid"/>
          </a:ln>
        </p:spPr>
      </p:sp>
      <p:sp>
        <p:nvSpPr>
          <p:cNvPr id="23" name="icon-circle"/>
          <p:cNvSpPr/>
          <p:nvPr/>
        </p:nvSpPr>
        <p:spPr>
          <a:xfrm>
            <a:off x="10682935" y="3886200"/>
            <a:ext cx="685800" cy="685800"/>
          </a:xfrm>
          <a:prstGeom prst="ellipse">
            <a:avLst/>
          </a:prstGeom>
          <a:solidFill>
            <a:schemeClr val="tx1"/>
          </a:solidFill>
          <a:ln w="19050">
            <a:solidFill>
              <a:schemeClr val="accent1"/>
            </a:solidFill>
            <a:prstDash val="solid"/>
          </a:ln>
        </p:spPr>
      </p:sp>
      <p:pic>
        <p:nvPicPr>
          <p:cNvPr id="24" name="icon" descr="FaLink">    </p:cNvPr>
          <p:cNvPicPr>
            <a:picLocks noChangeAspect="1"/>
          </p:cNvPicPr>
          <p:nvPr/>
        </p:nvPicPr>
        <p:blipFill>
          <a:blip r:embed="rId5"/>
          <a:stretch>
            <a:fillRect/>
          </a:stretch>
        </p:blipFill>
        <p:spPr>
          <a:xfrm>
            <a:off x="10854385" y="4057650"/>
            <a:ext cx="342900" cy="342900"/>
          </a:xfrm>
          <a:prstGeom prst="rect">
            <a:avLst/>
          </a:prstGeom>
        </p:spPr>
      </p:pic>
      <p:sp>
        <p:nvSpPr>
          <p:cNvPr id="25" name="Text 18"/>
          <p:cNvSpPr txBox="1"/>
          <p:nvPr/>
        </p:nvSpPr>
        <p:spPr>
          <a:xfrm>
            <a:off x="6522415" y="4023360"/>
            <a:ext cx="4023360" cy="457200"/>
          </a:xfrm>
          <a:prstGeom prst="rect">
            <a:avLst/>
          </a:prstGeom>
          <a:noFill/>
          <a:ln/>
        </p:spPr>
        <p:txBody>
          <a:bodyPr wrap="square" lIns="0" tIns="0" rIns="0" bIns="0" rtlCol="0" anchor="t"/>
          <a:lstStyle/>
          <a:p>
            <a:pPr rtl="1" algn="r" indent="0" marL="0">
              <a:buNone/>
            </a:pPr>
            <a:r>
              <a:rPr lang="ar-SA" altLang="en-US" sz="2000" b="1" dirty="0">
                <a:solidFill>
                  <a:schemeClr val="bg1"/>
                </a:solidFill>
              </a:rPr>
              <a:t>نفس المهاجم</a:t>
            </a:r>
            <a:endParaRPr lang="ar-SA" sz="2000" dirty="0"/>
          </a:p>
        </p:txBody>
      </p:sp>
      <p:sp>
        <p:nvSpPr>
          <p:cNvPr id="26" name="Text 19"/>
          <p:cNvSpPr txBox="1"/>
          <p:nvPr/>
        </p:nvSpPr>
        <p:spPr>
          <a:xfrm>
            <a:off x="6522415" y="4663440"/>
            <a:ext cx="4846320" cy="731520"/>
          </a:xfrm>
          <a:prstGeom prst="rect">
            <a:avLst/>
          </a:prstGeom>
          <a:noFill/>
          <a:ln/>
        </p:spPr>
        <p:txBody>
          <a:bodyPr wrap="square" lIns="0" tIns="0" rIns="0" bIns="0" rtlCol="0" anchor="t"/>
          <a:lstStyle/>
          <a:p>
            <a:pPr rtl="1" algn="r" indent="0" marL="0">
              <a:buNone/>
            </a:pPr>
            <a:r>
              <a:rPr lang="ar-SA" altLang="en-US" sz="1500" dirty="0">
                <a:solidFill>
                  <a:schemeClr val="bg2"/>
                </a:solidFill>
              </a:rPr>
              <a:t>نفس العنوان في حادثتي سجلات أو شبكة خلال 24 ساعة. القائمة البيضاء لا تربط شيئًا.</a:t>
            </a:r>
            <a:endParaRPr lang="ar-SA" sz="1500" dirty="0"/>
          </a:p>
        </p:txBody>
      </p:sp>
      <p:sp>
        <p:nvSpPr>
          <p:cNvPr id="27" name="card"/>
          <p:cNvSpPr/>
          <p:nvPr/>
        </p:nvSpPr>
        <p:spPr>
          <a:xfrm>
            <a:off x="551383" y="3657600"/>
            <a:ext cx="5394960" cy="1874520"/>
          </a:xfrm>
          <a:prstGeom prst="roundRect">
            <a:avLst>
              <a:gd name="adj" fmla="val 5854"/>
            </a:avLst>
          </a:prstGeom>
          <a:solidFill>
            <a:schemeClr val="tx2"/>
          </a:solidFill>
          <a:ln w="12700">
            <a:solidFill>
              <a:schemeClr val="accent5"/>
            </a:solidFill>
            <a:prstDash val="solid"/>
          </a:ln>
        </p:spPr>
      </p:sp>
      <p:sp>
        <p:nvSpPr>
          <p:cNvPr id="28" name="icon-circle"/>
          <p:cNvSpPr/>
          <p:nvPr/>
        </p:nvSpPr>
        <p:spPr>
          <a:xfrm>
            <a:off x="4986223" y="3886200"/>
            <a:ext cx="685800" cy="685800"/>
          </a:xfrm>
          <a:prstGeom prst="ellipse">
            <a:avLst/>
          </a:prstGeom>
          <a:solidFill>
            <a:schemeClr val="tx1"/>
          </a:solidFill>
          <a:ln w="19050">
            <a:solidFill>
              <a:schemeClr val="accent1"/>
            </a:solidFill>
            <a:prstDash val="solid"/>
          </a:ln>
        </p:spPr>
      </p:sp>
      <p:pic>
        <p:nvPicPr>
          <p:cNvPr id="29" name="icon" descr="FaFileShield">    </p:cNvPr>
          <p:cNvPicPr>
            <a:picLocks noChangeAspect="1"/>
          </p:cNvPicPr>
          <p:nvPr/>
        </p:nvPicPr>
        <p:blipFill>
          <a:blip r:embed="rId6"/>
          <a:stretch>
            <a:fillRect/>
          </a:stretch>
        </p:blipFill>
        <p:spPr>
          <a:xfrm>
            <a:off x="5157673" y="4057650"/>
            <a:ext cx="342900" cy="342900"/>
          </a:xfrm>
          <a:prstGeom prst="rect">
            <a:avLst/>
          </a:prstGeom>
        </p:spPr>
      </p:pic>
      <p:sp>
        <p:nvSpPr>
          <p:cNvPr id="30" name="Text 22"/>
          <p:cNvSpPr txBox="1"/>
          <p:nvPr/>
        </p:nvSpPr>
        <p:spPr>
          <a:xfrm>
            <a:off x="825703" y="4023360"/>
            <a:ext cx="4023360" cy="457200"/>
          </a:xfrm>
          <a:prstGeom prst="rect">
            <a:avLst/>
          </a:prstGeom>
          <a:noFill/>
          <a:ln/>
        </p:spPr>
        <p:txBody>
          <a:bodyPr wrap="square" lIns="0" tIns="0" rIns="0" bIns="0" rtlCol="0" anchor="t"/>
          <a:lstStyle/>
          <a:p>
            <a:pPr rtl="1" algn="r" indent="0" marL="0">
              <a:buNone/>
            </a:pPr>
            <a:r>
              <a:rPr lang="ar-SA" altLang="en-US" sz="2000" b="1" dirty="0">
                <a:solidFill>
                  <a:schemeClr val="bg1"/>
                </a:solidFill>
              </a:rPr>
              <a:t>الملف المكشوف</a:t>
            </a:r>
            <a:endParaRPr lang="ar-SA" sz="2000" dirty="0"/>
          </a:p>
        </p:txBody>
      </p:sp>
      <p:sp>
        <p:nvSpPr>
          <p:cNvPr id="31" name="Text 23"/>
          <p:cNvSpPr txBox="1"/>
          <p:nvPr/>
        </p:nvSpPr>
        <p:spPr>
          <a:xfrm>
            <a:off x="825703" y="4663440"/>
            <a:ext cx="4846320" cy="731520"/>
          </a:xfrm>
          <a:prstGeom prst="rect">
            <a:avLst/>
          </a:prstGeom>
          <a:noFill/>
          <a:ln/>
        </p:spPr>
        <p:txBody>
          <a:bodyPr wrap="square" lIns="0" tIns="0" rIns="0" bIns="0" rtlCol="0" anchor="t"/>
          <a:lstStyle/>
          <a:p>
            <a:pPr rtl="1" algn="r" indent="0" marL="0">
              <a:buNone/>
            </a:pPr>
            <a:r>
              <a:rPr lang="ar-SA" altLang="en-US" sz="1500" dirty="0">
                <a:solidFill>
                  <a:schemeClr val="bg2"/>
                </a:solidFill>
              </a:rPr>
              <a:t>مهاجم طلب مسارًا كشفته المراقبة؛ الرد 200 يعني تسريبًا فعليًا، فترتفع الحملة إلى حرجة.</a:t>
            </a:r>
            <a:endParaRPr lang="ar-SA" sz="15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القرار يبقى للإنسان</a:t>
            </a:r>
            <a:endParaRPr lang="en-US" sz="3400" dirty="0"/>
          </a:p>
        </p:txBody>
      </p:sp>
      <p:sp>
        <p:nvSpPr>
          <p:cNvPr id="3" name="card"/>
          <p:cNvSpPr/>
          <p:nvPr/>
        </p:nvSpPr>
        <p:spPr>
          <a:xfrm>
            <a:off x="548640" y="1463040"/>
            <a:ext cx="3931920" cy="4069080"/>
          </a:xfrm>
          <a:prstGeom prst="roundRect">
            <a:avLst>
              <a:gd name="adj" fmla="val 2791"/>
            </a:avLst>
          </a:prstGeom>
          <a:solidFill>
            <a:schemeClr val="tx2"/>
          </a:solidFill>
          <a:ln w="12700">
            <a:solidFill>
              <a:schemeClr val="accent5"/>
            </a:solidFill>
            <a:prstDash val="solid"/>
          </a:ln>
        </p:spPr>
      </p:sp>
      <p:sp>
        <p:nvSpPr>
          <p:cNvPr id="4" name="Text 2"/>
          <p:cNvSpPr txBox="1"/>
          <p:nvPr/>
        </p:nvSpPr>
        <p:spPr>
          <a:xfrm>
            <a:off x="731520" y="2240280"/>
            <a:ext cx="3566160" cy="1188720"/>
          </a:xfrm>
          <a:prstGeom prst="rect">
            <a:avLst/>
          </a:prstGeom>
          <a:noFill/>
          <a:ln/>
        </p:spPr>
        <p:txBody>
          <a:bodyPr wrap="square" lIns="0" tIns="0" rIns="0" bIns="0" rtlCol="0" anchor="t"/>
          <a:lstStyle/>
          <a:p>
            <a:pPr rtl="1" algn="ctr" indent="0" marL="0">
              <a:buNone/>
            </a:pPr>
            <a:r>
              <a:rPr lang="ar-SA" altLang="en-US" sz="6600" b="1" dirty="0">
                <a:solidFill>
                  <a:schemeClr val="accent2"/>
                </a:solidFill>
              </a:rPr>
              <a:t>3 ← 1</a:t>
            </a:r>
            <a:endParaRPr lang="ar-SA" sz="6600" dirty="0"/>
          </a:p>
        </p:txBody>
      </p:sp>
      <p:sp>
        <p:nvSpPr>
          <p:cNvPr id="5" name="Text 3"/>
          <p:cNvSpPr txBox="1"/>
          <p:nvPr/>
        </p:nvSpPr>
        <p:spPr>
          <a:xfrm>
            <a:off x="731520" y="3566160"/>
            <a:ext cx="3566160" cy="457200"/>
          </a:xfrm>
          <a:prstGeom prst="rect">
            <a:avLst/>
          </a:prstGeom>
          <a:noFill/>
          <a:ln/>
        </p:spPr>
        <p:txBody>
          <a:bodyPr wrap="square" lIns="0" tIns="0" rIns="0" bIns="0" rtlCol="0" anchor="t"/>
          <a:lstStyle/>
          <a:p>
            <a:pPr rtl="1" algn="ctr" indent="0" marL="0">
              <a:buNone/>
            </a:pPr>
            <a:r>
              <a:rPr lang="ar-SA" altLang="en-US" sz="2100" b="1" dirty="0">
                <a:solidFill>
                  <a:schemeClr val="bg1"/>
                </a:solidFill>
              </a:rPr>
              <a:t>موافقة واحدة لكل مهاجم</a:t>
            </a:r>
            <a:endParaRPr lang="ar-SA" sz="2100" dirty="0"/>
          </a:p>
        </p:txBody>
      </p:sp>
      <p:sp>
        <p:nvSpPr>
          <p:cNvPr id="6" name="Text 4"/>
          <p:cNvSpPr txBox="1"/>
          <p:nvPr/>
        </p:nvSpPr>
        <p:spPr>
          <a:xfrm>
            <a:off x="822960" y="4114800"/>
            <a:ext cx="3383280" cy="822960"/>
          </a:xfrm>
          <a:prstGeom prst="rect">
            <a:avLst/>
          </a:prstGeom>
          <a:noFill/>
          <a:ln/>
        </p:spPr>
        <p:txBody>
          <a:bodyPr wrap="square" lIns="0" tIns="0" rIns="0" bIns="0" rtlCol="0" anchor="t"/>
          <a:lstStyle/>
          <a:p>
            <a:pPr rtl="1" algn="ctr" indent="0" marL="0">
              <a:buNone/>
            </a:pPr>
            <a:r>
              <a:rPr lang="ar-SA" altLang="en-US" sz="1500" dirty="0">
                <a:solidFill>
                  <a:schemeClr val="bg2"/>
                </a:solidFill>
              </a:rPr>
              <a:t>بدل موافقة منفصلة لكل حادثة من كل مصدر</a:t>
            </a:r>
            <a:endParaRPr lang="ar-SA" sz="1500" dirty="0"/>
          </a:p>
        </p:txBody>
      </p:sp>
      <p:sp>
        <p:nvSpPr>
          <p:cNvPr id="7" name="icon-circle"/>
          <p:cNvSpPr/>
          <p:nvPr/>
        </p:nvSpPr>
        <p:spPr>
          <a:xfrm>
            <a:off x="10957255" y="1536192"/>
            <a:ext cx="658368" cy="658368"/>
          </a:xfrm>
          <a:prstGeom prst="ellipse">
            <a:avLst/>
          </a:prstGeom>
          <a:solidFill>
            <a:schemeClr val="tx1"/>
          </a:solidFill>
          <a:ln w="19050">
            <a:solidFill>
              <a:schemeClr val="accent1"/>
            </a:solidFill>
            <a:prstDash val="solid"/>
          </a:ln>
        </p:spPr>
      </p:sp>
      <p:pic>
        <p:nvPicPr>
          <p:cNvPr id="8" name="icon" descr="FaHandPointer">    </p:cNvPr>
          <p:cNvPicPr>
            <a:picLocks noChangeAspect="1"/>
          </p:cNvPicPr>
          <p:nvPr/>
        </p:nvPicPr>
        <p:blipFill>
          <a:blip r:embed="rId1"/>
          <a:stretch>
            <a:fillRect/>
          </a:stretch>
        </p:blipFill>
        <p:spPr>
          <a:xfrm>
            <a:off x="11121847" y="1700784"/>
            <a:ext cx="329184" cy="329184"/>
          </a:xfrm>
          <a:prstGeom prst="rect">
            <a:avLst/>
          </a:prstGeom>
        </p:spPr>
      </p:pic>
      <p:sp>
        <p:nvSpPr>
          <p:cNvPr id="9" name="Text 6"/>
          <p:cNvSpPr txBox="1"/>
          <p:nvPr/>
        </p:nvSpPr>
        <p:spPr>
          <a:xfrm>
            <a:off x="4937760" y="1481328"/>
            <a:ext cx="5745175" cy="411480"/>
          </a:xfrm>
          <a:prstGeom prst="rect">
            <a:avLst/>
          </a:prstGeom>
          <a:noFill/>
          <a:ln/>
        </p:spPr>
        <p:txBody>
          <a:bodyPr wrap="square" lIns="0" tIns="0" rIns="0" bIns="0" rtlCol="0" anchor="t"/>
          <a:lstStyle/>
          <a:p>
            <a:pPr rtl="1" algn="r" indent="0" marL="0">
              <a:buNone/>
            </a:pPr>
            <a:r>
              <a:rPr lang="ar-SA" altLang="en-US" sz="1900" b="1" dirty="0">
                <a:solidFill>
                  <a:schemeClr val="bg1"/>
                </a:solidFill>
              </a:rPr>
              <a:t>لا تنفيذ دون موافقة</a:t>
            </a:r>
            <a:endParaRPr lang="ar-SA" sz="1900" dirty="0"/>
          </a:p>
        </p:txBody>
      </p:sp>
      <p:sp>
        <p:nvSpPr>
          <p:cNvPr id="10" name="Text 7"/>
          <p:cNvSpPr txBox="1"/>
          <p:nvPr/>
        </p:nvSpPr>
        <p:spPr>
          <a:xfrm>
            <a:off x="4937760" y="1920240"/>
            <a:ext cx="5745175" cy="457200"/>
          </a:xfrm>
          <a:prstGeom prst="rect">
            <a:avLst/>
          </a:prstGeom>
          <a:noFill/>
          <a:ln/>
        </p:spPr>
        <p:txBody>
          <a:bodyPr wrap="square" lIns="0" tIns="0" rIns="0" bIns="0" rtlCol="0" anchor="t"/>
          <a:lstStyle/>
          <a:p>
            <a:pPr rtl="1" algn="r" indent="0" marL="0">
              <a:buNone/>
            </a:pPr>
            <a:r>
              <a:rPr lang="ar-SA" altLang="en-US" sz="1500" dirty="0">
                <a:solidFill>
                  <a:schemeClr val="bg2"/>
                </a:solidFill>
              </a:rPr>
              <a:t>رابط موافقة لمرة واحدة، صالح ساعة، يفتح صفحة تأكيد</a:t>
            </a:r>
            <a:endParaRPr lang="ar-SA" sz="1500" dirty="0"/>
          </a:p>
        </p:txBody>
      </p:sp>
      <p:sp>
        <p:nvSpPr>
          <p:cNvPr id="11" name="icon-circle"/>
          <p:cNvSpPr/>
          <p:nvPr/>
        </p:nvSpPr>
        <p:spPr>
          <a:xfrm>
            <a:off x="10957255" y="2615184"/>
            <a:ext cx="658368" cy="658368"/>
          </a:xfrm>
          <a:prstGeom prst="ellipse">
            <a:avLst/>
          </a:prstGeom>
          <a:solidFill>
            <a:schemeClr val="tx1"/>
          </a:solidFill>
          <a:ln w="19050">
            <a:solidFill>
              <a:schemeClr val="accent1"/>
            </a:solidFill>
            <a:prstDash val="solid"/>
          </a:ln>
        </p:spPr>
      </p:sp>
      <p:pic>
        <p:nvPicPr>
          <p:cNvPr id="12" name="icon" descr="FaKey">    </p:cNvPr>
          <p:cNvPicPr>
            <a:picLocks noChangeAspect="1"/>
          </p:cNvPicPr>
          <p:nvPr/>
        </p:nvPicPr>
        <p:blipFill>
          <a:blip r:embed="rId2"/>
          <a:stretch>
            <a:fillRect/>
          </a:stretch>
        </p:blipFill>
        <p:spPr>
          <a:xfrm>
            <a:off x="11121847" y="2779776"/>
            <a:ext cx="329184" cy="329184"/>
          </a:xfrm>
          <a:prstGeom prst="rect">
            <a:avLst/>
          </a:prstGeom>
        </p:spPr>
      </p:pic>
      <p:sp>
        <p:nvSpPr>
          <p:cNvPr id="13" name="Text 9"/>
          <p:cNvSpPr txBox="1"/>
          <p:nvPr/>
        </p:nvSpPr>
        <p:spPr>
          <a:xfrm>
            <a:off x="4937760" y="2560320"/>
            <a:ext cx="5745175" cy="411480"/>
          </a:xfrm>
          <a:prstGeom prst="rect">
            <a:avLst/>
          </a:prstGeom>
          <a:noFill/>
          <a:ln/>
        </p:spPr>
        <p:txBody>
          <a:bodyPr wrap="square" lIns="0" tIns="0" rIns="0" bIns="0" rtlCol="0" anchor="t"/>
          <a:lstStyle/>
          <a:p>
            <a:pPr rtl="1" algn="r" indent="0" marL="0">
              <a:buNone/>
            </a:pPr>
            <a:r>
              <a:rPr lang="ar-SA" altLang="en-US" sz="1900" b="1" dirty="0">
                <a:solidFill>
                  <a:schemeClr val="bg1"/>
                </a:solidFill>
              </a:rPr>
              <a:t>أمر موقّع</a:t>
            </a:r>
            <a:endParaRPr lang="ar-SA" sz="1900" dirty="0"/>
          </a:p>
        </p:txBody>
      </p:sp>
      <p:sp>
        <p:nvSpPr>
          <p:cNvPr id="14" name="Text 10"/>
          <p:cNvSpPr txBox="1"/>
          <p:nvPr/>
        </p:nvSpPr>
        <p:spPr>
          <a:xfrm>
            <a:off x="4937760" y="2999232"/>
            <a:ext cx="5745175" cy="457200"/>
          </a:xfrm>
          <a:prstGeom prst="rect">
            <a:avLst/>
          </a:prstGeom>
          <a:noFill/>
          <a:ln/>
        </p:spPr>
        <p:txBody>
          <a:bodyPr wrap="square" lIns="0" tIns="0" rIns="0" bIns="0" rtlCol="0" anchor="t"/>
          <a:lstStyle/>
          <a:p>
            <a:pPr rtl="1" algn="r" indent="0" marL="0">
              <a:buNone/>
            </a:pPr>
            <a:r>
              <a:rPr lang="ar-SA" altLang="en-US" sz="1500" dirty="0">
                <a:solidFill>
                  <a:schemeClr val="bg2"/>
                </a:solidFill>
              </a:rPr>
              <a:t>Webhook بتوقيع HMAC إلى منفّذ على خادم المنشأة يطبّق ufw</a:t>
            </a:r>
            <a:endParaRPr lang="ar-SA" sz="1500" dirty="0"/>
          </a:p>
        </p:txBody>
      </p:sp>
      <p:sp>
        <p:nvSpPr>
          <p:cNvPr id="15" name="icon-circle"/>
          <p:cNvSpPr/>
          <p:nvPr/>
        </p:nvSpPr>
        <p:spPr>
          <a:xfrm>
            <a:off x="10957255" y="3694176"/>
            <a:ext cx="658368" cy="658368"/>
          </a:xfrm>
          <a:prstGeom prst="ellipse">
            <a:avLst/>
          </a:prstGeom>
          <a:solidFill>
            <a:schemeClr val="tx1"/>
          </a:solidFill>
          <a:ln w="19050">
            <a:solidFill>
              <a:schemeClr val="accent1"/>
            </a:solidFill>
            <a:prstDash val="solid"/>
          </a:ln>
        </p:spPr>
      </p:sp>
      <p:pic>
        <p:nvPicPr>
          <p:cNvPr id="16" name="icon" descr="FaLock">    </p:cNvPr>
          <p:cNvPicPr>
            <a:picLocks noChangeAspect="1"/>
          </p:cNvPicPr>
          <p:nvPr/>
        </p:nvPicPr>
        <p:blipFill>
          <a:blip r:embed="rId3"/>
          <a:stretch>
            <a:fillRect/>
          </a:stretch>
        </p:blipFill>
        <p:spPr>
          <a:xfrm>
            <a:off x="11121847" y="3858768"/>
            <a:ext cx="329184" cy="329184"/>
          </a:xfrm>
          <a:prstGeom prst="rect">
            <a:avLst/>
          </a:prstGeom>
        </p:spPr>
      </p:pic>
      <p:sp>
        <p:nvSpPr>
          <p:cNvPr id="17" name="Text 12"/>
          <p:cNvSpPr txBox="1"/>
          <p:nvPr/>
        </p:nvSpPr>
        <p:spPr>
          <a:xfrm>
            <a:off x="4937760" y="3639312"/>
            <a:ext cx="5745175" cy="411480"/>
          </a:xfrm>
          <a:prstGeom prst="rect">
            <a:avLst/>
          </a:prstGeom>
          <a:noFill/>
          <a:ln/>
        </p:spPr>
        <p:txBody>
          <a:bodyPr wrap="square" lIns="0" tIns="0" rIns="0" bIns="0" rtlCol="0" anchor="t"/>
          <a:lstStyle/>
          <a:p>
            <a:pPr rtl="1" algn="r" indent="0" marL="0">
              <a:buNone/>
            </a:pPr>
            <a:r>
              <a:rPr lang="ar-SA" altLang="en-US" sz="1900" b="1" dirty="0">
                <a:solidFill>
                  <a:schemeClr val="bg1"/>
                </a:solidFill>
              </a:rPr>
              <a:t>حواجز ثابتة</a:t>
            </a:r>
            <a:endParaRPr lang="ar-SA" sz="1900" dirty="0"/>
          </a:p>
        </p:txBody>
      </p:sp>
      <p:sp>
        <p:nvSpPr>
          <p:cNvPr id="18" name="Text 13"/>
          <p:cNvSpPr txBox="1"/>
          <p:nvPr/>
        </p:nvSpPr>
        <p:spPr>
          <a:xfrm>
            <a:off x="4937760" y="4078224"/>
            <a:ext cx="5745175" cy="457200"/>
          </a:xfrm>
          <a:prstGeom prst="rect">
            <a:avLst/>
          </a:prstGeom>
          <a:noFill/>
          <a:ln/>
        </p:spPr>
        <p:txBody>
          <a:bodyPr wrap="square" lIns="0" tIns="0" rIns="0" bIns="0" rtlCol="0" anchor="t"/>
          <a:lstStyle/>
          <a:p>
            <a:pPr rtl="1" algn="r" indent="0" marL="0">
              <a:buNone/>
            </a:pPr>
            <a:r>
              <a:rPr lang="ar-SA" altLang="en-US" sz="1500" dirty="0">
                <a:solidFill>
                  <a:schemeClr val="bg2"/>
                </a:solidFill>
              </a:rPr>
              <a:t>لا حظر لعنوان محمي، ولا إجراء أشد مما تسمح به السياسة</a:t>
            </a:r>
            <a:endParaRPr lang="ar-SA" sz="1500" dirty="0"/>
          </a:p>
        </p:txBody>
      </p:sp>
      <p:sp>
        <p:nvSpPr>
          <p:cNvPr id="19" name="icon-circle"/>
          <p:cNvSpPr/>
          <p:nvPr/>
        </p:nvSpPr>
        <p:spPr>
          <a:xfrm>
            <a:off x="10957255" y="4773168"/>
            <a:ext cx="658368" cy="658368"/>
          </a:xfrm>
          <a:prstGeom prst="ellipse">
            <a:avLst/>
          </a:prstGeom>
          <a:solidFill>
            <a:schemeClr val="tx1"/>
          </a:solidFill>
          <a:ln w="19050">
            <a:solidFill>
              <a:schemeClr val="accent1"/>
            </a:solidFill>
            <a:prstDash val="solid"/>
          </a:ln>
        </p:spPr>
      </p:sp>
      <p:pic>
        <p:nvPicPr>
          <p:cNvPr id="20" name="icon" descr="FaClockRotateLeft">    </p:cNvPr>
          <p:cNvPicPr>
            <a:picLocks noChangeAspect="1"/>
          </p:cNvPicPr>
          <p:nvPr/>
        </p:nvPicPr>
        <p:blipFill>
          <a:blip r:embed="rId4"/>
          <a:stretch>
            <a:fillRect/>
          </a:stretch>
        </p:blipFill>
        <p:spPr>
          <a:xfrm>
            <a:off x="11121847" y="4937760"/>
            <a:ext cx="329184" cy="329184"/>
          </a:xfrm>
          <a:prstGeom prst="rect">
            <a:avLst/>
          </a:prstGeom>
        </p:spPr>
      </p:pic>
      <p:sp>
        <p:nvSpPr>
          <p:cNvPr id="21" name="Text 15"/>
          <p:cNvSpPr txBox="1"/>
          <p:nvPr/>
        </p:nvSpPr>
        <p:spPr>
          <a:xfrm>
            <a:off x="4937760" y="4718304"/>
            <a:ext cx="5745175" cy="411480"/>
          </a:xfrm>
          <a:prstGeom prst="rect">
            <a:avLst/>
          </a:prstGeom>
          <a:noFill/>
          <a:ln/>
        </p:spPr>
        <p:txBody>
          <a:bodyPr wrap="square" lIns="0" tIns="0" rIns="0" bIns="0" rtlCol="0" anchor="t"/>
          <a:lstStyle/>
          <a:p>
            <a:pPr rtl="1" algn="r" indent="0" marL="0">
              <a:buNone/>
            </a:pPr>
            <a:r>
              <a:rPr lang="ar-SA" altLang="en-US" sz="1900" b="1" dirty="0">
                <a:solidFill>
                  <a:schemeClr val="bg1"/>
                </a:solidFill>
              </a:rPr>
              <a:t>سجل تدقيق كامل</a:t>
            </a:r>
            <a:endParaRPr lang="ar-SA" sz="1900" dirty="0"/>
          </a:p>
        </p:txBody>
      </p:sp>
      <p:sp>
        <p:nvSpPr>
          <p:cNvPr id="22" name="Text 16"/>
          <p:cNvSpPr txBox="1"/>
          <p:nvPr/>
        </p:nvSpPr>
        <p:spPr>
          <a:xfrm>
            <a:off x="4937760" y="5157216"/>
            <a:ext cx="5745175" cy="457200"/>
          </a:xfrm>
          <a:prstGeom prst="rect">
            <a:avLst/>
          </a:prstGeom>
          <a:noFill/>
          <a:ln/>
        </p:spPr>
        <p:txBody>
          <a:bodyPr wrap="square" lIns="0" tIns="0" rIns="0" bIns="0" rtlCol="0" anchor="t"/>
          <a:lstStyle/>
          <a:p>
            <a:pPr rtl="1" algn="r" indent="0" marL="0">
              <a:buNone/>
            </a:pPr>
            <a:r>
              <a:rPr lang="ar-SA" altLang="en-US" sz="1500" dirty="0">
                <a:solidFill>
                  <a:schemeClr val="bg2"/>
                </a:solidFill>
              </a:rPr>
              <a:t>كل خطوة وقرار ونتيجة تنفيذ محفوظة لكل حادثة</a:t>
            </a:r>
            <a:endParaRPr lang="ar-SA" sz="15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النتائج المقيسة</a:t>
            </a:r>
            <a:endParaRPr lang="en-US" sz="3400" dirty="0"/>
          </a:p>
        </p:txBody>
      </p:sp>
      <p:sp>
        <p:nvSpPr>
          <p:cNvPr id="3" name="card"/>
          <p:cNvSpPr/>
          <p:nvPr/>
        </p:nvSpPr>
        <p:spPr>
          <a:xfrm>
            <a:off x="6248095" y="1417320"/>
            <a:ext cx="5394960" cy="1965960"/>
          </a:xfrm>
          <a:prstGeom prst="roundRect">
            <a:avLst>
              <a:gd name="adj" fmla="val 5581"/>
            </a:avLst>
          </a:prstGeom>
          <a:solidFill>
            <a:schemeClr val="tx2"/>
          </a:solidFill>
          <a:ln w="12700">
            <a:solidFill>
              <a:schemeClr val="accent5"/>
            </a:solidFill>
            <a:prstDash val="solid"/>
          </a:ln>
        </p:spPr>
      </p:sp>
      <p:sp>
        <p:nvSpPr>
          <p:cNvPr id="4" name="Text 2"/>
          <p:cNvSpPr txBox="1"/>
          <p:nvPr/>
        </p:nvSpPr>
        <p:spPr>
          <a:xfrm>
            <a:off x="6476695" y="1828800"/>
            <a:ext cx="2103120" cy="1097280"/>
          </a:xfrm>
          <a:prstGeom prst="rect">
            <a:avLst/>
          </a:prstGeom>
          <a:noFill/>
          <a:ln/>
        </p:spPr>
        <p:txBody>
          <a:bodyPr wrap="square" lIns="0" tIns="0" rIns="0" bIns="0" rtlCol="0" anchor="ctr"/>
          <a:lstStyle/>
          <a:p>
            <a:pPr algn="ctr" indent="0" marL="0">
              <a:buNone/>
            </a:pPr>
            <a:r>
              <a:rPr lang="ar-SA" altLang="en-US" sz="5400" b="1" dirty="0">
                <a:solidFill>
                  <a:schemeClr val="accent2"/>
                </a:solidFill>
              </a:rPr>
              <a:t>100%</a:t>
            </a:r>
            <a:endParaRPr lang="ar-SA" sz="5400" dirty="0"/>
          </a:p>
        </p:txBody>
      </p:sp>
      <p:sp>
        <p:nvSpPr>
          <p:cNvPr id="5" name="Text 3"/>
          <p:cNvSpPr txBox="1"/>
          <p:nvPr/>
        </p:nvSpPr>
        <p:spPr>
          <a:xfrm>
            <a:off x="8716975" y="1874520"/>
            <a:ext cx="2697480" cy="457200"/>
          </a:xfrm>
          <a:prstGeom prst="rect">
            <a:avLst/>
          </a:prstGeom>
          <a:noFill/>
          <a:ln/>
        </p:spPr>
        <p:txBody>
          <a:bodyPr wrap="square" lIns="0" tIns="0" rIns="0" bIns="0" rtlCol="0" anchor="t"/>
          <a:lstStyle/>
          <a:p>
            <a:pPr rtl="1" algn="r" indent="0" marL="0">
              <a:buNone/>
            </a:pPr>
            <a:r>
              <a:rPr lang="ar-SA" altLang="en-US" sz="2100" b="1" dirty="0">
                <a:solidFill>
                  <a:schemeClr val="bg1"/>
                </a:solidFill>
              </a:rPr>
              <a:t>رصد هجمات الشبكة</a:t>
            </a:r>
            <a:endParaRPr lang="ar-SA" sz="2100" dirty="0"/>
          </a:p>
        </p:txBody>
      </p:sp>
      <p:sp>
        <p:nvSpPr>
          <p:cNvPr id="6" name="Text 4"/>
          <p:cNvSpPr txBox="1"/>
          <p:nvPr/>
        </p:nvSpPr>
        <p:spPr>
          <a:xfrm>
            <a:off x="8716975" y="2423160"/>
            <a:ext cx="2697480" cy="640080"/>
          </a:xfrm>
          <a:prstGeom prst="rect">
            <a:avLst/>
          </a:prstGeom>
          <a:noFill/>
          <a:ln/>
        </p:spPr>
        <p:txBody>
          <a:bodyPr wrap="square" lIns="0" tIns="0" rIns="0" bIns="0" rtlCol="0" anchor="t"/>
          <a:lstStyle/>
          <a:p>
            <a:pPr rtl="1" algn="r" indent="0" marL="0">
              <a:buNone/>
            </a:pPr>
            <a:r>
              <a:rPr lang="ar-SA" altLang="en-US" sz="1500" dirty="0">
                <a:solidFill>
                  <a:schemeClr val="bg2"/>
                </a:solidFill>
              </a:rPr>
              <a:t>6 أنواع × حجمان × 5 بذور</a:t>
            </a:r>
            <a:endParaRPr lang="ar-SA" sz="1500" dirty="0"/>
          </a:p>
        </p:txBody>
      </p:sp>
      <p:sp>
        <p:nvSpPr>
          <p:cNvPr id="7" name="card"/>
          <p:cNvSpPr/>
          <p:nvPr/>
        </p:nvSpPr>
        <p:spPr>
          <a:xfrm>
            <a:off x="551383" y="1417320"/>
            <a:ext cx="5394960" cy="1965960"/>
          </a:xfrm>
          <a:prstGeom prst="roundRect">
            <a:avLst>
              <a:gd name="adj" fmla="val 5581"/>
            </a:avLst>
          </a:prstGeom>
          <a:solidFill>
            <a:schemeClr val="tx2"/>
          </a:solidFill>
          <a:ln w="12700">
            <a:solidFill>
              <a:schemeClr val="accent5"/>
            </a:solidFill>
            <a:prstDash val="solid"/>
          </a:ln>
        </p:spPr>
      </p:sp>
      <p:sp>
        <p:nvSpPr>
          <p:cNvPr id="8" name="Text 6"/>
          <p:cNvSpPr txBox="1"/>
          <p:nvPr/>
        </p:nvSpPr>
        <p:spPr>
          <a:xfrm>
            <a:off x="779983" y="1828800"/>
            <a:ext cx="2103120" cy="1097280"/>
          </a:xfrm>
          <a:prstGeom prst="rect">
            <a:avLst/>
          </a:prstGeom>
          <a:noFill/>
          <a:ln/>
        </p:spPr>
        <p:txBody>
          <a:bodyPr wrap="square" lIns="0" tIns="0" rIns="0" bIns="0" rtlCol="0" anchor="ctr"/>
          <a:lstStyle/>
          <a:p>
            <a:pPr algn="ctr" indent="0" marL="0">
              <a:buNone/>
            </a:pPr>
            <a:r>
              <a:rPr lang="ar-SA" altLang="en-US" sz="5400" b="1" dirty="0">
                <a:solidFill>
                  <a:schemeClr val="accent2"/>
                </a:solidFill>
              </a:rPr>
              <a:t>0</a:t>
            </a:r>
            <a:endParaRPr lang="ar-SA" sz="5400" dirty="0"/>
          </a:p>
        </p:txBody>
      </p:sp>
      <p:sp>
        <p:nvSpPr>
          <p:cNvPr id="9" name="Text 7"/>
          <p:cNvSpPr txBox="1"/>
          <p:nvPr/>
        </p:nvSpPr>
        <p:spPr>
          <a:xfrm>
            <a:off x="3020263" y="1874520"/>
            <a:ext cx="2697480" cy="457200"/>
          </a:xfrm>
          <a:prstGeom prst="rect">
            <a:avLst/>
          </a:prstGeom>
          <a:noFill/>
          <a:ln/>
        </p:spPr>
        <p:txBody>
          <a:bodyPr wrap="square" lIns="0" tIns="0" rIns="0" bIns="0" rtlCol="0" anchor="t"/>
          <a:lstStyle/>
          <a:p>
            <a:pPr rtl="1" algn="r" indent="0" marL="0">
              <a:buNone/>
            </a:pPr>
            <a:r>
              <a:rPr lang="ar-SA" altLang="en-US" sz="2100" b="1" dirty="0">
                <a:solidFill>
                  <a:schemeClr val="bg1"/>
                </a:solidFill>
              </a:rPr>
              <a:t>تنبيه كاذب</a:t>
            </a:r>
            <a:endParaRPr lang="ar-SA" sz="2100" dirty="0"/>
          </a:p>
        </p:txBody>
      </p:sp>
      <p:sp>
        <p:nvSpPr>
          <p:cNvPr id="10" name="Text 8"/>
          <p:cNvSpPr txBox="1"/>
          <p:nvPr/>
        </p:nvSpPr>
        <p:spPr>
          <a:xfrm>
            <a:off x="3020263" y="2423160"/>
            <a:ext cx="2697480" cy="640080"/>
          </a:xfrm>
          <a:prstGeom prst="rect">
            <a:avLst/>
          </a:prstGeom>
          <a:noFill/>
          <a:ln/>
        </p:spPr>
        <p:txBody>
          <a:bodyPr wrap="square" lIns="0" tIns="0" rIns="0" bIns="0" rtlCol="0" anchor="t"/>
          <a:lstStyle/>
          <a:p>
            <a:pPr rtl="1" algn="r" indent="0" marL="0">
              <a:buNone/>
            </a:pPr>
            <a:r>
              <a:rPr lang="ar-SA" altLang="en-US" sz="1500" dirty="0">
                <a:solidFill>
                  <a:schemeClr val="bg2"/>
                </a:solidFill>
              </a:rPr>
              <a:t>خلال 300 دقيقة ترافيك طبيعي</a:t>
            </a:r>
            <a:endParaRPr lang="ar-SA" sz="1500" dirty="0"/>
          </a:p>
        </p:txBody>
      </p:sp>
      <p:sp>
        <p:nvSpPr>
          <p:cNvPr id="11" name="card"/>
          <p:cNvSpPr/>
          <p:nvPr/>
        </p:nvSpPr>
        <p:spPr>
          <a:xfrm>
            <a:off x="6248095" y="3657600"/>
            <a:ext cx="5394960" cy="1965960"/>
          </a:xfrm>
          <a:prstGeom prst="roundRect">
            <a:avLst>
              <a:gd name="adj" fmla="val 5581"/>
            </a:avLst>
          </a:prstGeom>
          <a:solidFill>
            <a:schemeClr val="tx2"/>
          </a:solidFill>
          <a:ln w="12700">
            <a:solidFill>
              <a:schemeClr val="accent5"/>
            </a:solidFill>
            <a:prstDash val="solid"/>
          </a:ln>
        </p:spPr>
      </p:sp>
      <p:sp>
        <p:nvSpPr>
          <p:cNvPr id="12" name="Text 10"/>
          <p:cNvSpPr txBox="1"/>
          <p:nvPr/>
        </p:nvSpPr>
        <p:spPr>
          <a:xfrm>
            <a:off x="6476695" y="4069080"/>
            <a:ext cx="2103120" cy="1097280"/>
          </a:xfrm>
          <a:prstGeom prst="rect">
            <a:avLst/>
          </a:prstGeom>
          <a:noFill/>
          <a:ln/>
        </p:spPr>
        <p:txBody>
          <a:bodyPr wrap="square" lIns="0" tIns="0" rIns="0" bIns="0" rtlCol="0" anchor="ctr"/>
          <a:lstStyle/>
          <a:p>
            <a:pPr algn="ctr" indent="0" marL="0">
              <a:buNone/>
            </a:pPr>
            <a:r>
              <a:rPr lang="ar-SA" altLang="en-US" sz="5400" b="1" dirty="0">
                <a:solidFill>
                  <a:schemeClr val="accent2"/>
                </a:solidFill>
              </a:rPr>
              <a:t>100%</a:t>
            </a:r>
            <a:endParaRPr lang="ar-SA" sz="5400" dirty="0"/>
          </a:p>
        </p:txBody>
      </p:sp>
      <p:sp>
        <p:nvSpPr>
          <p:cNvPr id="13" name="Text 11"/>
          <p:cNvSpPr txBox="1"/>
          <p:nvPr/>
        </p:nvSpPr>
        <p:spPr>
          <a:xfrm>
            <a:off x="8716975" y="4114800"/>
            <a:ext cx="2697480" cy="457200"/>
          </a:xfrm>
          <a:prstGeom prst="rect">
            <a:avLst/>
          </a:prstGeom>
          <a:noFill/>
          <a:ln/>
        </p:spPr>
        <p:txBody>
          <a:bodyPr wrap="square" lIns="0" tIns="0" rIns="0" bIns="0" rtlCol="0" anchor="t"/>
          <a:lstStyle/>
          <a:p>
            <a:pPr rtl="1" algn="r" indent="0" marL="0">
              <a:buNone/>
            </a:pPr>
            <a:r>
              <a:rPr lang="ar-SA" altLang="en-US" sz="2100" b="1" dirty="0">
                <a:solidFill>
                  <a:schemeClr val="bg1"/>
                </a:solidFill>
              </a:rPr>
              <a:t>كشف السجلات</a:t>
            </a:r>
            <a:endParaRPr lang="ar-SA" sz="2100" dirty="0"/>
          </a:p>
        </p:txBody>
      </p:sp>
      <p:sp>
        <p:nvSpPr>
          <p:cNvPr id="14" name="Text 12"/>
          <p:cNvSpPr txBox="1"/>
          <p:nvPr/>
        </p:nvSpPr>
        <p:spPr>
          <a:xfrm>
            <a:off x="8716975" y="4663440"/>
            <a:ext cx="2697480" cy="640080"/>
          </a:xfrm>
          <a:prstGeom prst="rect">
            <a:avLst/>
          </a:prstGeom>
          <a:noFill/>
          <a:ln/>
        </p:spPr>
        <p:txBody>
          <a:bodyPr wrap="square" lIns="0" tIns="0" rIns="0" bIns="0" rtlCol="0" anchor="t"/>
          <a:lstStyle/>
          <a:p>
            <a:pPr rtl="1" algn="r" indent="0" marL="0">
              <a:buNone/>
            </a:pPr>
            <a:r>
              <a:rPr lang="ar-SA" altLang="en-US" sz="1500" dirty="0">
                <a:solidFill>
                  <a:schemeClr val="bg2"/>
                </a:solidFill>
              </a:rPr>
              <a:t>6 أنماط، ولا تنبيه كاذب</a:t>
            </a:r>
            <a:endParaRPr lang="ar-SA" sz="1500" dirty="0"/>
          </a:p>
        </p:txBody>
      </p:sp>
      <p:sp>
        <p:nvSpPr>
          <p:cNvPr id="15" name="card"/>
          <p:cNvSpPr/>
          <p:nvPr/>
        </p:nvSpPr>
        <p:spPr>
          <a:xfrm>
            <a:off x="551383" y="3657600"/>
            <a:ext cx="5394960" cy="1965960"/>
          </a:xfrm>
          <a:prstGeom prst="roundRect">
            <a:avLst>
              <a:gd name="adj" fmla="val 5581"/>
            </a:avLst>
          </a:prstGeom>
          <a:solidFill>
            <a:schemeClr val="tx2"/>
          </a:solidFill>
          <a:ln w="12700">
            <a:solidFill>
              <a:schemeClr val="accent5"/>
            </a:solidFill>
            <a:prstDash val="solid"/>
          </a:ln>
        </p:spPr>
      </p:sp>
      <p:sp>
        <p:nvSpPr>
          <p:cNvPr id="16" name="Text 14"/>
          <p:cNvSpPr txBox="1"/>
          <p:nvPr/>
        </p:nvSpPr>
        <p:spPr>
          <a:xfrm>
            <a:off x="779983" y="4069080"/>
            <a:ext cx="2103120" cy="1097280"/>
          </a:xfrm>
          <a:prstGeom prst="rect">
            <a:avLst/>
          </a:prstGeom>
          <a:noFill/>
          <a:ln/>
        </p:spPr>
        <p:txBody>
          <a:bodyPr wrap="square" lIns="0" tIns="0" rIns="0" bIns="0" rtlCol="0" anchor="ctr"/>
          <a:lstStyle/>
          <a:p>
            <a:pPr algn="ctr" indent="0" marL="0">
              <a:buNone/>
            </a:pPr>
            <a:r>
              <a:rPr lang="ar-SA" altLang="en-US" sz="5400" b="1" dirty="0">
                <a:solidFill>
                  <a:schemeClr val="accent2"/>
                </a:solidFill>
              </a:rPr>
              <a:t>100%</a:t>
            </a:r>
            <a:endParaRPr lang="ar-SA" sz="5400" dirty="0"/>
          </a:p>
        </p:txBody>
      </p:sp>
      <p:sp>
        <p:nvSpPr>
          <p:cNvPr id="17" name="Text 15"/>
          <p:cNvSpPr txBox="1"/>
          <p:nvPr/>
        </p:nvSpPr>
        <p:spPr>
          <a:xfrm>
            <a:off x="3020263" y="4114800"/>
            <a:ext cx="2697480" cy="457200"/>
          </a:xfrm>
          <a:prstGeom prst="rect">
            <a:avLst/>
          </a:prstGeom>
          <a:noFill/>
          <a:ln/>
        </p:spPr>
        <p:txBody>
          <a:bodyPr wrap="square" lIns="0" tIns="0" rIns="0" bIns="0" rtlCol="0" anchor="t"/>
          <a:lstStyle/>
          <a:p>
            <a:pPr rtl="1" algn="r" indent="0" marL="0">
              <a:buNone/>
            </a:pPr>
            <a:r>
              <a:rPr lang="ar-SA" altLang="en-US" sz="2100" b="1" dirty="0">
                <a:solidFill>
                  <a:schemeClr val="bg1"/>
                </a:solidFill>
              </a:rPr>
              <a:t>دقة ربط الحملات</a:t>
            </a:r>
            <a:endParaRPr lang="ar-SA" sz="2100" dirty="0"/>
          </a:p>
        </p:txBody>
      </p:sp>
      <p:sp>
        <p:nvSpPr>
          <p:cNvPr id="18" name="Text 16"/>
          <p:cNvSpPr txBox="1"/>
          <p:nvPr/>
        </p:nvSpPr>
        <p:spPr>
          <a:xfrm>
            <a:off x="3020263" y="4663440"/>
            <a:ext cx="2697480" cy="640080"/>
          </a:xfrm>
          <a:prstGeom prst="rect">
            <a:avLst/>
          </a:prstGeom>
          <a:noFill/>
          <a:ln/>
        </p:spPr>
        <p:txBody>
          <a:bodyPr wrap="square" lIns="0" tIns="0" rIns="0" bIns="0" rtlCol="0" anchor="t"/>
          <a:lstStyle/>
          <a:p>
            <a:pPr rtl="1" algn="r" indent="0" marL="0">
              <a:buNone/>
            </a:pPr>
            <a:r>
              <a:rPr lang="ar-SA" altLang="en-US" sz="1500" dirty="0">
                <a:solidFill>
                  <a:schemeClr val="bg2"/>
                </a:solidFill>
              </a:rPr>
              <a:t>10 سيناريوهات فيها طُعوم</a:t>
            </a:r>
            <a:endParaRPr lang="ar-SA" sz="1500" dirty="0"/>
          </a:p>
        </p:txBody>
      </p:sp>
      <p:sp>
        <p:nvSpPr>
          <p:cNvPr id="19" name="Text 17"/>
          <p:cNvSpPr txBox="1"/>
          <p:nvPr/>
        </p:nvSpPr>
        <p:spPr>
          <a:xfrm>
            <a:off x="548640" y="5897880"/>
            <a:ext cx="11094415" cy="365760"/>
          </a:xfrm>
          <a:prstGeom prst="rect">
            <a:avLst/>
          </a:prstGeom>
          <a:noFill/>
          <a:ln/>
        </p:spPr>
        <p:txBody>
          <a:bodyPr wrap="square" lIns="0" tIns="0" rIns="0" bIns="0" rtlCol="0" anchor="t"/>
          <a:lstStyle/>
          <a:p>
            <a:pPr rtl="1" algn="ctr" indent="0" marL="0">
              <a:buNone/>
            </a:pPr>
            <a:r>
              <a:rPr lang="ar-SA" altLang="en-US" sz="1400" dirty="0">
                <a:solidFill>
                  <a:schemeClr val="accent6"/>
                </a:solidFill>
              </a:rPr>
              <a:t>إعادة تشغيل تدفقات CICIDS2017 الحقيقية عبر مسار المنصة نفسه، بلا تكلفة API · 229 اختبارًا آليًا تنجح</a:t>
            </a:r>
            <a:endParaRPr lang="ar-SA" sz="1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لماذا التعلّم الآلي؟ حين يكون الهجوم هادئًا</a:t>
            </a:r>
            <a:endParaRPr lang="en-US" sz="3400" dirty="0"/>
          </a:p>
        </p:txBody>
      </p:sp>
      <p:graphicFrame>
        <p:nvGraphicFramePr>
          <p:cNvPr id="3" name="chart-low-volume" descr=""/>
          <p:cNvGraphicFramePr/>
          <p:nvPr/>
        </p:nvGraphicFramePr>
        <p:xfrm>
          <a:off x="548640" y="1325880"/>
          <a:ext cx="7406640" cy="466344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275320" y="1463040"/>
            <a:ext cx="3367735" cy="4480560"/>
          </a:xfrm>
          <a:prstGeom prst="roundRect">
            <a:avLst>
              <a:gd name="adj" fmla="val 3258"/>
            </a:avLst>
          </a:prstGeom>
          <a:solidFill>
            <a:schemeClr val="tx2"/>
          </a:solidFill>
          <a:ln w="12700">
            <a:solidFill>
              <a:schemeClr val="accent5"/>
            </a:solidFill>
            <a:prstDash val="solid"/>
          </a:ln>
        </p:spPr>
      </p:sp>
      <p:sp>
        <p:nvSpPr>
          <p:cNvPr id="5" name="Text 2"/>
          <p:cNvSpPr txBox="1"/>
          <p:nvPr/>
        </p:nvSpPr>
        <p:spPr>
          <a:xfrm>
            <a:off x="8458200" y="1783080"/>
            <a:ext cx="3001975" cy="914400"/>
          </a:xfrm>
          <a:prstGeom prst="rect">
            <a:avLst/>
          </a:prstGeom>
          <a:noFill/>
          <a:ln/>
        </p:spPr>
        <p:txBody>
          <a:bodyPr wrap="square" lIns="0" tIns="0" rIns="0" bIns="0" rtlCol="0" anchor="t"/>
          <a:lstStyle/>
          <a:p>
            <a:pPr rtl="1" algn="ctr" indent="0" marL="0">
              <a:buNone/>
            </a:pPr>
            <a:r>
              <a:rPr lang="ar-SA" altLang="en-US" sz="5400" b="1" dirty="0">
                <a:solidFill>
                  <a:schemeClr val="accent2"/>
                </a:solidFill>
              </a:rPr>
              <a:t>4 من 6</a:t>
            </a:r>
            <a:endParaRPr lang="ar-SA" sz="5400" dirty="0"/>
          </a:p>
        </p:txBody>
      </p:sp>
      <p:sp>
        <p:nvSpPr>
          <p:cNvPr id="6" name="Text 3"/>
          <p:cNvSpPr txBox="1"/>
          <p:nvPr/>
        </p:nvSpPr>
        <p:spPr>
          <a:xfrm>
            <a:off x="8503920" y="2788920"/>
            <a:ext cx="2910535" cy="822960"/>
          </a:xfrm>
          <a:prstGeom prst="rect">
            <a:avLst/>
          </a:prstGeom>
          <a:noFill/>
          <a:ln/>
        </p:spPr>
        <p:txBody>
          <a:bodyPr wrap="square" lIns="0" tIns="0" rIns="0" bIns="0" rtlCol="0" anchor="t"/>
          <a:lstStyle/>
          <a:p>
            <a:pPr rtl="1" algn="ctr" indent="0" marL="0">
              <a:buNone/>
            </a:pPr>
            <a:r>
              <a:rPr lang="ar-SA" altLang="en-US" sz="1800" b="1" dirty="0">
                <a:solidFill>
                  <a:schemeClr val="bg1"/>
                </a:solidFill>
              </a:rPr>
              <a:t>هجمات لم تلتقطها إلا النماذج حين قلّ حجم الهجوم</a:t>
            </a:r>
            <a:endParaRPr lang="ar-SA" sz="1800" dirty="0"/>
          </a:p>
        </p:txBody>
      </p:sp>
      <p:sp>
        <p:nvSpPr>
          <p:cNvPr id="7" name="Text 4"/>
          <p:cNvSpPr txBox="1"/>
          <p:nvPr/>
        </p:nvSpPr>
        <p:spPr>
          <a:xfrm>
            <a:off x="8503920" y="3749040"/>
            <a:ext cx="2910535" cy="2011680"/>
          </a:xfrm>
          <a:prstGeom prst="rect">
            <a:avLst/>
          </a:prstGeom>
          <a:noFill/>
          <a:ln/>
        </p:spPr>
        <p:txBody>
          <a:bodyPr wrap="square" lIns="0" tIns="0" rIns="0" bIns="0" rtlCol="0" anchor="t"/>
          <a:lstStyle/>
          <a:p>
            <a:pPr rtl="1" algn="r" indent="0" marL="0">
              <a:buNone/>
            </a:pPr>
            <a:r>
              <a:rPr lang="ar-SA" altLang="en-US" sz="1500" dirty="0">
                <a:solidFill>
                  <a:schemeClr val="bg2"/>
                </a:solidFill>
              </a:rPr>
              <a:t>بحجم كبير تكفي القواعد لأي هجوم بسبب حجمه، والنموذج هو من يحدد نوعه بدقة 100%. بحجم منخفض يبقى النموذج وحده.</a:t>
            </a:r>
            <a:endParaRPr lang="ar-SA" sz="15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البنية التقنية</a:t>
            </a:r>
            <a:endParaRPr lang="en-US" sz="3400" dirty="0"/>
          </a:p>
        </p:txBody>
      </p:sp>
      <p:sp>
        <p:nvSpPr>
          <p:cNvPr id="3" name="card"/>
          <p:cNvSpPr/>
          <p:nvPr/>
        </p:nvSpPr>
        <p:spPr>
          <a:xfrm>
            <a:off x="8076895" y="1463040"/>
            <a:ext cx="3566160" cy="1965960"/>
          </a:xfrm>
          <a:prstGeom prst="roundRect">
            <a:avLst>
              <a:gd name="adj" fmla="val 5581"/>
            </a:avLst>
          </a:prstGeom>
          <a:solidFill>
            <a:schemeClr val="tx2"/>
          </a:solidFill>
          <a:ln w="12700">
            <a:solidFill>
              <a:schemeClr val="accent5"/>
            </a:solidFill>
            <a:prstDash val="solid"/>
          </a:ln>
        </p:spPr>
      </p:sp>
      <p:sp>
        <p:nvSpPr>
          <p:cNvPr id="4" name="icon-circle"/>
          <p:cNvSpPr/>
          <p:nvPr/>
        </p:nvSpPr>
        <p:spPr>
          <a:xfrm>
            <a:off x="10728655" y="1737360"/>
            <a:ext cx="640080" cy="640080"/>
          </a:xfrm>
          <a:prstGeom prst="ellipse">
            <a:avLst/>
          </a:prstGeom>
          <a:solidFill>
            <a:schemeClr val="tx1"/>
          </a:solidFill>
          <a:ln w="19050">
            <a:solidFill>
              <a:schemeClr val="accent1"/>
            </a:solidFill>
            <a:prstDash val="solid"/>
          </a:ln>
        </p:spPr>
      </p:sp>
      <p:pic>
        <p:nvPicPr>
          <p:cNvPr id="5" name="icon" descr="FaServer">    </p:cNvPr>
          <p:cNvPicPr>
            <a:picLocks noChangeAspect="1"/>
          </p:cNvPicPr>
          <p:nvPr/>
        </p:nvPicPr>
        <p:blipFill>
          <a:blip r:embed="rId1"/>
          <a:stretch>
            <a:fillRect/>
          </a:stretch>
        </p:blipFill>
        <p:spPr>
          <a:xfrm>
            <a:off x="10888675" y="1897380"/>
            <a:ext cx="320040" cy="320040"/>
          </a:xfrm>
          <a:prstGeom prst="rect">
            <a:avLst/>
          </a:prstGeom>
        </p:spPr>
      </p:pic>
      <p:sp>
        <p:nvSpPr>
          <p:cNvPr id="6" name="Text 3"/>
          <p:cNvSpPr txBox="1"/>
          <p:nvPr/>
        </p:nvSpPr>
        <p:spPr>
          <a:xfrm>
            <a:off x="8351215" y="1847088"/>
            <a:ext cx="2286000" cy="411480"/>
          </a:xfrm>
          <a:prstGeom prst="rect">
            <a:avLst/>
          </a:prstGeom>
          <a:noFill/>
          <a:ln/>
        </p:spPr>
        <p:txBody>
          <a:bodyPr wrap="square" lIns="0" tIns="0" rIns="0" bIns="0" rtlCol="0" anchor="t"/>
          <a:lstStyle/>
          <a:p>
            <a:pPr rtl="1" algn="r" indent="0" marL="0">
              <a:buNone/>
            </a:pPr>
            <a:r>
              <a:rPr lang="ar-SA" altLang="en-US" sz="2000" b="1" dirty="0">
                <a:solidFill>
                  <a:schemeClr val="bg1"/>
                </a:solidFill>
              </a:rPr>
              <a:t>المنصة</a:t>
            </a:r>
            <a:endParaRPr lang="ar-SA" sz="2000" dirty="0"/>
          </a:p>
        </p:txBody>
      </p:sp>
      <p:sp>
        <p:nvSpPr>
          <p:cNvPr id="7" name="Text 4"/>
          <p:cNvSpPr txBox="1"/>
          <p:nvPr/>
        </p:nvSpPr>
        <p:spPr>
          <a:xfrm>
            <a:off x="8351215" y="2514600"/>
            <a:ext cx="3017520" cy="777240"/>
          </a:xfrm>
          <a:prstGeom prst="rect">
            <a:avLst/>
          </a:prstGeom>
          <a:noFill/>
          <a:ln/>
        </p:spPr>
        <p:txBody>
          <a:bodyPr wrap="square" lIns="0" tIns="0" rIns="0" bIns="0" rtlCol="0" anchor="t"/>
          <a:lstStyle/>
          <a:p>
            <a:pPr rtl="1" algn="r" indent="0" marL="0">
              <a:buNone/>
            </a:pPr>
            <a:r>
              <a:rPr lang="ar-SA" altLang="en-US" sz="1500" dirty="0">
                <a:solidFill>
                  <a:schemeClr val="bg2"/>
                </a:solidFill>
              </a:rPr>
              <a:t>FastAPI، وقاعدة SQLite مستقلة لكل منشأة</a:t>
            </a:r>
            <a:endParaRPr lang="ar-SA" sz="1500" dirty="0"/>
          </a:p>
        </p:txBody>
      </p:sp>
      <p:sp>
        <p:nvSpPr>
          <p:cNvPr id="8" name="card"/>
          <p:cNvSpPr/>
          <p:nvPr/>
        </p:nvSpPr>
        <p:spPr>
          <a:xfrm>
            <a:off x="4314139" y="1463040"/>
            <a:ext cx="3566160" cy="1965960"/>
          </a:xfrm>
          <a:prstGeom prst="roundRect">
            <a:avLst>
              <a:gd name="adj" fmla="val 5581"/>
            </a:avLst>
          </a:prstGeom>
          <a:solidFill>
            <a:schemeClr val="tx2"/>
          </a:solidFill>
          <a:ln w="12700">
            <a:solidFill>
              <a:schemeClr val="accent5"/>
            </a:solidFill>
            <a:prstDash val="solid"/>
          </a:ln>
        </p:spPr>
      </p:sp>
      <p:sp>
        <p:nvSpPr>
          <p:cNvPr id="9" name="icon-circle"/>
          <p:cNvSpPr/>
          <p:nvPr/>
        </p:nvSpPr>
        <p:spPr>
          <a:xfrm>
            <a:off x="6965899" y="1737360"/>
            <a:ext cx="640080" cy="640080"/>
          </a:xfrm>
          <a:prstGeom prst="ellipse">
            <a:avLst/>
          </a:prstGeom>
          <a:solidFill>
            <a:schemeClr val="tx1"/>
          </a:solidFill>
          <a:ln w="19050">
            <a:solidFill>
              <a:schemeClr val="accent1"/>
            </a:solidFill>
            <a:prstDash val="solid"/>
          </a:ln>
        </p:spPr>
      </p:sp>
      <p:pic>
        <p:nvPicPr>
          <p:cNvPr id="10" name="icon" descr="FaChartColumn">    </p:cNvPr>
          <p:cNvPicPr>
            <a:picLocks noChangeAspect="1"/>
          </p:cNvPicPr>
          <p:nvPr/>
        </p:nvPicPr>
        <p:blipFill>
          <a:blip r:embed="rId2"/>
          <a:stretch>
            <a:fillRect/>
          </a:stretch>
        </p:blipFill>
        <p:spPr>
          <a:xfrm>
            <a:off x="7125919" y="1897380"/>
            <a:ext cx="320040" cy="320040"/>
          </a:xfrm>
          <a:prstGeom prst="rect">
            <a:avLst/>
          </a:prstGeom>
        </p:spPr>
      </p:pic>
      <p:sp>
        <p:nvSpPr>
          <p:cNvPr id="11" name="Text 7"/>
          <p:cNvSpPr txBox="1"/>
          <p:nvPr/>
        </p:nvSpPr>
        <p:spPr>
          <a:xfrm>
            <a:off x="4588459" y="1847088"/>
            <a:ext cx="2286000" cy="411480"/>
          </a:xfrm>
          <a:prstGeom prst="rect">
            <a:avLst/>
          </a:prstGeom>
          <a:noFill/>
          <a:ln/>
        </p:spPr>
        <p:txBody>
          <a:bodyPr wrap="square" lIns="0" tIns="0" rIns="0" bIns="0" rtlCol="0" anchor="t"/>
          <a:lstStyle/>
          <a:p>
            <a:pPr rtl="1" algn="r" indent="0" marL="0">
              <a:buNone/>
            </a:pPr>
            <a:r>
              <a:rPr lang="ar-SA" altLang="en-US" sz="2000" b="1" dirty="0">
                <a:solidFill>
                  <a:schemeClr val="bg1"/>
                </a:solidFill>
              </a:rPr>
              <a:t>النماذج</a:t>
            </a:r>
            <a:endParaRPr lang="ar-SA" sz="2000" dirty="0"/>
          </a:p>
        </p:txBody>
      </p:sp>
      <p:sp>
        <p:nvSpPr>
          <p:cNvPr id="12" name="Text 8"/>
          <p:cNvSpPr txBox="1"/>
          <p:nvPr/>
        </p:nvSpPr>
        <p:spPr>
          <a:xfrm>
            <a:off x="4588459" y="2514600"/>
            <a:ext cx="3017520" cy="777240"/>
          </a:xfrm>
          <a:prstGeom prst="rect">
            <a:avLst/>
          </a:prstGeom>
          <a:noFill/>
          <a:ln/>
        </p:spPr>
        <p:txBody>
          <a:bodyPr wrap="square" lIns="0" tIns="0" rIns="0" bIns="0" rtlCol="0" anchor="t"/>
          <a:lstStyle/>
          <a:p>
            <a:pPr rtl="1" algn="r" indent="0" marL="0">
              <a:buNone/>
            </a:pPr>
            <a:r>
              <a:rPr lang="ar-SA" altLang="en-US" sz="1500" dirty="0">
                <a:solidFill>
                  <a:schemeClr val="bg2"/>
                </a:solidFill>
              </a:rPr>
              <a:t>scikit-learn (Random Forest) وTensorFlow (LSTM)</a:t>
            </a:r>
            <a:endParaRPr lang="ar-SA" sz="1500" dirty="0"/>
          </a:p>
        </p:txBody>
      </p:sp>
      <p:sp>
        <p:nvSpPr>
          <p:cNvPr id="13" name="card"/>
          <p:cNvSpPr/>
          <p:nvPr/>
        </p:nvSpPr>
        <p:spPr>
          <a:xfrm>
            <a:off x="551383" y="1463040"/>
            <a:ext cx="3566160" cy="1965960"/>
          </a:xfrm>
          <a:prstGeom prst="roundRect">
            <a:avLst>
              <a:gd name="adj" fmla="val 5581"/>
            </a:avLst>
          </a:prstGeom>
          <a:solidFill>
            <a:schemeClr val="tx2"/>
          </a:solidFill>
          <a:ln w="12700">
            <a:solidFill>
              <a:schemeClr val="accent5"/>
            </a:solidFill>
            <a:prstDash val="solid"/>
          </a:ln>
        </p:spPr>
      </p:sp>
      <p:sp>
        <p:nvSpPr>
          <p:cNvPr id="14" name="icon-circle"/>
          <p:cNvSpPr/>
          <p:nvPr/>
        </p:nvSpPr>
        <p:spPr>
          <a:xfrm>
            <a:off x="3203143" y="1737360"/>
            <a:ext cx="640080" cy="640080"/>
          </a:xfrm>
          <a:prstGeom prst="ellipse">
            <a:avLst/>
          </a:prstGeom>
          <a:solidFill>
            <a:schemeClr val="tx1"/>
          </a:solidFill>
          <a:ln w="19050">
            <a:solidFill>
              <a:schemeClr val="accent1"/>
            </a:solidFill>
            <a:prstDash val="solid"/>
          </a:ln>
        </p:spPr>
      </p:sp>
      <p:pic>
        <p:nvPicPr>
          <p:cNvPr id="15" name="icon" descr="FaRobot">    </p:cNvPr>
          <p:cNvPicPr>
            <a:picLocks noChangeAspect="1"/>
          </p:cNvPicPr>
          <p:nvPr/>
        </p:nvPicPr>
        <p:blipFill>
          <a:blip r:embed="rId3"/>
          <a:stretch>
            <a:fillRect/>
          </a:stretch>
        </p:blipFill>
        <p:spPr>
          <a:xfrm>
            <a:off x="3363163" y="1897380"/>
            <a:ext cx="320040" cy="320040"/>
          </a:xfrm>
          <a:prstGeom prst="rect">
            <a:avLst/>
          </a:prstGeom>
        </p:spPr>
      </p:pic>
      <p:sp>
        <p:nvSpPr>
          <p:cNvPr id="16" name="Text 11"/>
          <p:cNvSpPr txBox="1"/>
          <p:nvPr/>
        </p:nvSpPr>
        <p:spPr>
          <a:xfrm>
            <a:off x="825703" y="1847088"/>
            <a:ext cx="2286000" cy="411480"/>
          </a:xfrm>
          <a:prstGeom prst="rect">
            <a:avLst/>
          </a:prstGeom>
          <a:noFill/>
          <a:ln/>
        </p:spPr>
        <p:txBody>
          <a:bodyPr wrap="square" lIns="0" tIns="0" rIns="0" bIns="0" rtlCol="0" anchor="t"/>
          <a:lstStyle/>
          <a:p>
            <a:pPr rtl="1" algn="r" indent="0" marL="0">
              <a:buNone/>
            </a:pPr>
            <a:r>
              <a:rPr lang="ar-SA" altLang="en-US" sz="2000" b="1" dirty="0">
                <a:solidFill>
                  <a:schemeClr val="bg1"/>
                </a:solidFill>
              </a:rPr>
              <a:t>الوكلاء</a:t>
            </a:r>
            <a:endParaRPr lang="ar-SA" sz="2000" dirty="0"/>
          </a:p>
        </p:txBody>
      </p:sp>
      <p:sp>
        <p:nvSpPr>
          <p:cNvPr id="17" name="Text 12"/>
          <p:cNvSpPr txBox="1"/>
          <p:nvPr/>
        </p:nvSpPr>
        <p:spPr>
          <a:xfrm>
            <a:off x="825703" y="2514600"/>
            <a:ext cx="3017520" cy="777240"/>
          </a:xfrm>
          <a:prstGeom prst="rect">
            <a:avLst/>
          </a:prstGeom>
          <a:noFill/>
          <a:ln/>
        </p:spPr>
        <p:txBody>
          <a:bodyPr wrap="square" lIns="0" tIns="0" rIns="0" bIns="0" rtlCol="0" anchor="t"/>
          <a:lstStyle/>
          <a:p>
            <a:pPr rtl="1" algn="r" indent="0" marL="0">
              <a:buNone/>
            </a:pPr>
            <a:r>
              <a:rPr lang="ar-SA" altLang="en-US" sz="1500" dirty="0">
                <a:solidFill>
                  <a:schemeClr val="bg2"/>
                </a:solidFill>
              </a:rPr>
              <a:t>Claude بأدوات (Tool Use)، ووضع عرض بلا مفتاح</a:t>
            </a:r>
            <a:endParaRPr lang="ar-SA" sz="1500" dirty="0"/>
          </a:p>
        </p:txBody>
      </p:sp>
      <p:sp>
        <p:nvSpPr>
          <p:cNvPr id="18" name="card"/>
          <p:cNvSpPr/>
          <p:nvPr/>
        </p:nvSpPr>
        <p:spPr>
          <a:xfrm>
            <a:off x="8076895" y="3703320"/>
            <a:ext cx="3566160" cy="1965960"/>
          </a:xfrm>
          <a:prstGeom prst="roundRect">
            <a:avLst>
              <a:gd name="adj" fmla="val 5581"/>
            </a:avLst>
          </a:prstGeom>
          <a:solidFill>
            <a:schemeClr val="tx2"/>
          </a:solidFill>
          <a:ln w="12700">
            <a:solidFill>
              <a:schemeClr val="accent5"/>
            </a:solidFill>
            <a:prstDash val="solid"/>
          </a:ln>
        </p:spPr>
      </p:sp>
      <p:sp>
        <p:nvSpPr>
          <p:cNvPr id="19" name="icon-circle"/>
          <p:cNvSpPr/>
          <p:nvPr/>
        </p:nvSpPr>
        <p:spPr>
          <a:xfrm>
            <a:off x="10728655" y="3977640"/>
            <a:ext cx="640080" cy="640080"/>
          </a:xfrm>
          <a:prstGeom prst="ellipse">
            <a:avLst/>
          </a:prstGeom>
          <a:solidFill>
            <a:schemeClr val="tx1"/>
          </a:solidFill>
          <a:ln w="19050">
            <a:solidFill>
              <a:schemeClr val="accent1"/>
            </a:solidFill>
            <a:prstDash val="solid"/>
          </a:ln>
        </p:spPr>
      </p:sp>
      <p:pic>
        <p:nvPicPr>
          <p:cNvPr id="20" name="icon" descr="FaNetworkWired">    </p:cNvPr>
          <p:cNvPicPr>
            <a:picLocks noChangeAspect="1"/>
          </p:cNvPicPr>
          <p:nvPr/>
        </p:nvPicPr>
        <p:blipFill>
          <a:blip r:embed="rId4"/>
          <a:stretch>
            <a:fillRect/>
          </a:stretch>
        </p:blipFill>
        <p:spPr>
          <a:xfrm>
            <a:off x="10888675" y="4137660"/>
            <a:ext cx="320040" cy="320040"/>
          </a:xfrm>
          <a:prstGeom prst="rect">
            <a:avLst/>
          </a:prstGeom>
        </p:spPr>
      </p:pic>
      <p:sp>
        <p:nvSpPr>
          <p:cNvPr id="21" name="Text 15"/>
          <p:cNvSpPr txBox="1"/>
          <p:nvPr/>
        </p:nvSpPr>
        <p:spPr>
          <a:xfrm>
            <a:off x="8351215" y="4087368"/>
            <a:ext cx="2286000" cy="411480"/>
          </a:xfrm>
          <a:prstGeom prst="rect">
            <a:avLst/>
          </a:prstGeom>
          <a:noFill/>
          <a:ln/>
        </p:spPr>
        <p:txBody>
          <a:bodyPr wrap="square" lIns="0" tIns="0" rIns="0" bIns="0" rtlCol="0" anchor="t"/>
          <a:lstStyle/>
          <a:p>
            <a:pPr rtl="1" algn="r" indent="0" marL="0">
              <a:buNone/>
            </a:pPr>
            <a:r>
              <a:rPr lang="ar-SA" altLang="en-US" sz="2000" b="1" dirty="0">
                <a:solidFill>
                  <a:schemeClr val="bg1"/>
                </a:solidFill>
              </a:rPr>
              <a:t>وكيل الخادم</a:t>
            </a:r>
            <a:endParaRPr lang="ar-SA" sz="2000" dirty="0"/>
          </a:p>
        </p:txBody>
      </p:sp>
      <p:sp>
        <p:nvSpPr>
          <p:cNvPr id="22" name="Text 16"/>
          <p:cNvSpPr txBox="1"/>
          <p:nvPr/>
        </p:nvSpPr>
        <p:spPr>
          <a:xfrm>
            <a:off x="8351215" y="4754880"/>
            <a:ext cx="3017520" cy="777240"/>
          </a:xfrm>
          <a:prstGeom prst="rect">
            <a:avLst/>
          </a:prstGeom>
          <a:noFill/>
          <a:ln/>
        </p:spPr>
        <p:txBody>
          <a:bodyPr wrap="square" lIns="0" tIns="0" rIns="0" bIns="0" rtlCol="0" anchor="t"/>
          <a:lstStyle/>
          <a:p>
            <a:pPr rtl="1" algn="r" indent="0" marL="0">
              <a:buNone/>
            </a:pPr>
            <a:r>
              <a:rPr lang="ar-SA" altLang="en-US" sz="1500" dirty="0">
                <a:solidFill>
                  <a:schemeClr val="bg2"/>
                </a:solidFill>
              </a:rPr>
              <a:t>Python وscapy وnumpy، التقاط حي أو ملف pcap</a:t>
            </a:r>
            <a:endParaRPr lang="ar-SA" sz="1500" dirty="0"/>
          </a:p>
        </p:txBody>
      </p:sp>
      <p:sp>
        <p:nvSpPr>
          <p:cNvPr id="23" name="card"/>
          <p:cNvSpPr/>
          <p:nvPr/>
        </p:nvSpPr>
        <p:spPr>
          <a:xfrm>
            <a:off x="4314139" y="3703320"/>
            <a:ext cx="3566160" cy="1965960"/>
          </a:xfrm>
          <a:prstGeom prst="roundRect">
            <a:avLst>
              <a:gd name="adj" fmla="val 5581"/>
            </a:avLst>
          </a:prstGeom>
          <a:solidFill>
            <a:schemeClr val="tx2"/>
          </a:solidFill>
          <a:ln w="12700">
            <a:solidFill>
              <a:schemeClr val="accent5"/>
            </a:solidFill>
            <a:prstDash val="solid"/>
          </a:ln>
        </p:spPr>
      </p:sp>
      <p:sp>
        <p:nvSpPr>
          <p:cNvPr id="24" name="icon-circle"/>
          <p:cNvSpPr/>
          <p:nvPr/>
        </p:nvSpPr>
        <p:spPr>
          <a:xfrm>
            <a:off x="6965899" y="3977640"/>
            <a:ext cx="640080" cy="640080"/>
          </a:xfrm>
          <a:prstGeom prst="ellipse">
            <a:avLst/>
          </a:prstGeom>
          <a:solidFill>
            <a:schemeClr val="tx1"/>
          </a:solidFill>
          <a:ln w="19050">
            <a:solidFill>
              <a:schemeClr val="accent1"/>
            </a:solidFill>
            <a:prstDash val="solid"/>
          </a:ln>
        </p:spPr>
      </p:sp>
      <p:pic>
        <p:nvPicPr>
          <p:cNvPr id="25" name="icon" descr="FaCode">    </p:cNvPr>
          <p:cNvPicPr>
            <a:picLocks noChangeAspect="1"/>
          </p:cNvPicPr>
          <p:nvPr/>
        </p:nvPicPr>
        <p:blipFill>
          <a:blip r:embed="rId5"/>
          <a:stretch>
            <a:fillRect/>
          </a:stretch>
        </p:blipFill>
        <p:spPr>
          <a:xfrm>
            <a:off x="7125919" y="4137660"/>
            <a:ext cx="320040" cy="320040"/>
          </a:xfrm>
          <a:prstGeom prst="rect">
            <a:avLst/>
          </a:prstGeom>
        </p:spPr>
      </p:pic>
      <p:sp>
        <p:nvSpPr>
          <p:cNvPr id="26" name="Text 19"/>
          <p:cNvSpPr txBox="1"/>
          <p:nvPr/>
        </p:nvSpPr>
        <p:spPr>
          <a:xfrm>
            <a:off x="4588459" y="4087368"/>
            <a:ext cx="2286000" cy="411480"/>
          </a:xfrm>
          <a:prstGeom prst="rect">
            <a:avLst/>
          </a:prstGeom>
          <a:noFill/>
          <a:ln/>
        </p:spPr>
        <p:txBody>
          <a:bodyPr wrap="square" lIns="0" tIns="0" rIns="0" bIns="0" rtlCol="0" anchor="t"/>
          <a:lstStyle/>
          <a:p>
            <a:pPr rtl="1" algn="r" indent="0" marL="0">
              <a:buNone/>
            </a:pPr>
            <a:r>
              <a:rPr lang="ar-SA" altLang="en-US" sz="2000" b="1" dirty="0">
                <a:solidFill>
                  <a:schemeClr val="bg1"/>
                </a:solidFill>
              </a:rPr>
              <a:t>الواجهة</a:t>
            </a:r>
            <a:endParaRPr lang="ar-SA" sz="2000" dirty="0"/>
          </a:p>
        </p:txBody>
      </p:sp>
      <p:sp>
        <p:nvSpPr>
          <p:cNvPr id="27" name="Text 20"/>
          <p:cNvSpPr txBox="1"/>
          <p:nvPr/>
        </p:nvSpPr>
        <p:spPr>
          <a:xfrm>
            <a:off x="4588459" y="4754880"/>
            <a:ext cx="3017520" cy="777240"/>
          </a:xfrm>
          <a:prstGeom prst="rect">
            <a:avLst/>
          </a:prstGeom>
          <a:noFill/>
          <a:ln/>
        </p:spPr>
        <p:txBody>
          <a:bodyPr wrap="square" lIns="0" tIns="0" rIns="0" bIns="0" rtlCol="0" anchor="t"/>
          <a:lstStyle/>
          <a:p>
            <a:pPr rtl="1" algn="r" indent="0" marL="0">
              <a:buNone/>
            </a:pPr>
            <a:r>
              <a:rPr lang="ar-SA" altLang="en-US" sz="1500" dirty="0">
                <a:solidFill>
                  <a:schemeClr val="bg2"/>
                </a:solidFill>
              </a:rPr>
              <a:t>لوحة عربية من اليمين لليسار، بوضعين فاتح وغامق</a:t>
            </a:r>
            <a:endParaRPr lang="ar-SA" sz="1500" dirty="0"/>
          </a:p>
        </p:txBody>
      </p:sp>
      <p:sp>
        <p:nvSpPr>
          <p:cNvPr id="28" name="card"/>
          <p:cNvSpPr/>
          <p:nvPr/>
        </p:nvSpPr>
        <p:spPr>
          <a:xfrm>
            <a:off x="551383" y="3703320"/>
            <a:ext cx="3566160" cy="1965960"/>
          </a:xfrm>
          <a:prstGeom prst="roundRect">
            <a:avLst>
              <a:gd name="adj" fmla="val 5581"/>
            </a:avLst>
          </a:prstGeom>
          <a:solidFill>
            <a:schemeClr val="tx2"/>
          </a:solidFill>
          <a:ln w="12700">
            <a:solidFill>
              <a:schemeClr val="accent5"/>
            </a:solidFill>
            <a:prstDash val="solid"/>
          </a:ln>
        </p:spPr>
      </p:sp>
      <p:sp>
        <p:nvSpPr>
          <p:cNvPr id="29" name="icon-circle"/>
          <p:cNvSpPr/>
          <p:nvPr/>
        </p:nvSpPr>
        <p:spPr>
          <a:xfrm>
            <a:off x="3203143" y="3977640"/>
            <a:ext cx="640080" cy="640080"/>
          </a:xfrm>
          <a:prstGeom prst="ellipse">
            <a:avLst/>
          </a:prstGeom>
          <a:solidFill>
            <a:schemeClr val="tx1"/>
          </a:solidFill>
          <a:ln w="19050">
            <a:solidFill>
              <a:schemeClr val="accent1"/>
            </a:solidFill>
            <a:prstDash val="solid"/>
          </a:ln>
        </p:spPr>
      </p:sp>
      <p:pic>
        <p:nvPicPr>
          <p:cNvPr id="30" name="icon" descr="FaFlask">    </p:cNvPr>
          <p:cNvPicPr>
            <a:picLocks noChangeAspect="1"/>
          </p:cNvPicPr>
          <p:nvPr/>
        </p:nvPicPr>
        <p:blipFill>
          <a:blip r:embed="rId6"/>
          <a:stretch>
            <a:fillRect/>
          </a:stretch>
        </p:blipFill>
        <p:spPr>
          <a:xfrm>
            <a:off x="3363163" y="4137660"/>
            <a:ext cx="320040" cy="320040"/>
          </a:xfrm>
          <a:prstGeom prst="rect">
            <a:avLst/>
          </a:prstGeom>
        </p:spPr>
      </p:pic>
      <p:sp>
        <p:nvSpPr>
          <p:cNvPr id="31" name="Text 23"/>
          <p:cNvSpPr txBox="1"/>
          <p:nvPr/>
        </p:nvSpPr>
        <p:spPr>
          <a:xfrm>
            <a:off x="825703" y="4087368"/>
            <a:ext cx="2286000" cy="411480"/>
          </a:xfrm>
          <a:prstGeom prst="rect">
            <a:avLst/>
          </a:prstGeom>
          <a:noFill/>
          <a:ln/>
        </p:spPr>
        <p:txBody>
          <a:bodyPr wrap="square" lIns="0" tIns="0" rIns="0" bIns="0" rtlCol="0" anchor="t"/>
          <a:lstStyle/>
          <a:p>
            <a:pPr rtl="1" algn="r" indent="0" marL="0">
              <a:buNone/>
            </a:pPr>
            <a:r>
              <a:rPr lang="ar-SA" altLang="en-US" sz="2000" b="1" dirty="0">
                <a:solidFill>
                  <a:schemeClr val="bg1"/>
                </a:solidFill>
              </a:rPr>
              <a:t>الجودة</a:t>
            </a:r>
            <a:endParaRPr lang="ar-SA" sz="2000" dirty="0"/>
          </a:p>
        </p:txBody>
      </p:sp>
      <p:sp>
        <p:nvSpPr>
          <p:cNvPr id="32" name="Text 24"/>
          <p:cNvSpPr txBox="1"/>
          <p:nvPr/>
        </p:nvSpPr>
        <p:spPr>
          <a:xfrm>
            <a:off x="825703" y="4754880"/>
            <a:ext cx="3017520" cy="777240"/>
          </a:xfrm>
          <a:prstGeom prst="rect">
            <a:avLst/>
          </a:prstGeom>
          <a:noFill/>
          <a:ln/>
        </p:spPr>
        <p:txBody>
          <a:bodyPr wrap="square" lIns="0" tIns="0" rIns="0" bIns="0" rtlCol="0" anchor="t"/>
          <a:lstStyle/>
          <a:p>
            <a:pPr rtl="1" algn="r" indent="0" marL="0">
              <a:buNone/>
            </a:pPr>
            <a:r>
              <a:rPr lang="ar-SA" altLang="en-US" sz="1500" dirty="0">
                <a:solidFill>
                  <a:schemeClr val="bg2"/>
                </a:solidFill>
              </a:rPr>
              <a:t>229 اختبار pytest، وتقييمات قابلة للإعادة</a:t>
            </a:r>
            <a:endParaRPr lang="ar-SA" sz="15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31520"/>
          </a:xfrm>
          <a:prstGeom prst="rect">
            <a:avLst/>
          </a:prstGeom>
          <a:noFill/>
          <a:ln/>
        </p:spPr>
        <p:txBody>
          <a:bodyPr wrap="square" rtlCol="0" anchor="ctr"/>
          <a:lstStyle/>
          <a:p>
            <a:pPr rtl="1" algn="r" indent="0" marL="0">
              <a:buNone/>
            </a:pPr>
            <a:r>
              <a:rPr lang="en-US" sz="3400" b="1" dirty="0">
                <a:solidFill>
                  <a:schemeClr val="bg1"/>
                </a:solidFill>
              </a:rPr>
              <a:t>بصراحة: الحدود والخطوة التالية</a:t>
            </a:r>
            <a:endParaRPr lang="en-US" sz="3400" dirty="0"/>
          </a:p>
        </p:txBody>
      </p:sp>
      <p:sp>
        <p:nvSpPr>
          <p:cNvPr id="3" name="card"/>
          <p:cNvSpPr/>
          <p:nvPr/>
        </p:nvSpPr>
        <p:spPr>
          <a:xfrm>
            <a:off x="6248095" y="1417320"/>
            <a:ext cx="5394960" cy="3931920"/>
          </a:xfrm>
          <a:prstGeom prst="roundRect">
            <a:avLst>
              <a:gd name="adj" fmla="val 2791"/>
            </a:avLst>
          </a:prstGeom>
          <a:solidFill>
            <a:schemeClr val="tx2"/>
          </a:solidFill>
          <a:ln w="12700">
            <a:solidFill>
              <a:schemeClr val="accent5"/>
            </a:solidFill>
            <a:prstDash val="solid"/>
          </a:ln>
        </p:spPr>
      </p:sp>
      <p:sp>
        <p:nvSpPr>
          <p:cNvPr id="4" name="icon-circle"/>
          <p:cNvSpPr/>
          <p:nvPr/>
        </p:nvSpPr>
        <p:spPr>
          <a:xfrm>
            <a:off x="10682935" y="1691640"/>
            <a:ext cx="685800" cy="685800"/>
          </a:xfrm>
          <a:prstGeom prst="ellipse">
            <a:avLst/>
          </a:prstGeom>
          <a:solidFill>
            <a:schemeClr val="tx1"/>
          </a:solidFill>
          <a:ln w="19050">
            <a:solidFill>
              <a:schemeClr val="accent4"/>
            </a:solidFill>
            <a:prstDash val="solid"/>
          </a:ln>
        </p:spPr>
      </p:sp>
      <p:pic>
        <p:nvPicPr>
          <p:cNvPr id="5" name="icon" descr="FaTriangleExclamation">    </p:cNvPr>
          <p:cNvPicPr>
            <a:picLocks noChangeAspect="1"/>
          </p:cNvPicPr>
          <p:nvPr/>
        </p:nvPicPr>
        <p:blipFill>
          <a:blip r:embed="rId1"/>
          <a:stretch>
            <a:fillRect/>
          </a:stretch>
        </p:blipFill>
        <p:spPr>
          <a:xfrm>
            <a:off x="10854385" y="1863090"/>
            <a:ext cx="342900" cy="342900"/>
          </a:xfrm>
          <a:prstGeom prst="rect">
            <a:avLst/>
          </a:prstGeom>
        </p:spPr>
      </p:pic>
      <p:sp>
        <p:nvSpPr>
          <p:cNvPr id="6" name="Text 3"/>
          <p:cNvSpPr txBox="1"/>
          <p:nvPr/>
        </p:nvSpPr>
        <p:spPr>
          <a:xfrm>
            <a:off x="6522415" y="1810512"/>
            <a:ext cx="4023360" cy="457200"/>
          </a:xfrm>
          <a:prstGeom prst="rect">
            <a:avLst/>
          </a:prstGeom>
          <a:noFill/>
          <a:ln/>
        </p:spPr>
        <p:txBody>
          <a:bodyPr wrap="square" lIns="0" tIns="0" rIns="0" bIns="0" rtlCol="0" anchor="t"/>
          <a:lstStyle/>
          <a:p>
            <a:pPr rtl="1" algn="r" indent="0" marL="0">
              <a:buNone/>
            </a:pPr>
            <a:r>
              <a:rPr lang="ar-SA" altLang="en-US" sz="2200" b="1" dirty="0">
                <a:solidFill>
                  <a:schemeClr val="bg1"/>
                </a:solidFill>
              </a:rPr>
              <a:t>حدود معلنة</a:t>
            </a:r>
            <a:endParaRPr lang="ar-SA" sz="2200" dirty="0"/>
          </a:p>
        </p:txBody>
      </p:sp>
      <p:sp>
        <p:nvSpPr>
          <p:cNvPr id="7" name="Text 4"/>
          <p:cNvSpPr txBox="1"/>
          <p:nvPr/>
        </p:nvSpPr>
        <p:spPr>
          <a:xfrm>
            <a:off x="6568135" y="2606040"/>
            <a:ext cx="4754880" cy="3108960"/>
          </a:xfrm>
          <a:prstGeom prst="rect">
            <a:avLst/>
          </a:prstGeom>
          <a:noFill/>
          <a:ln/>
        </p:spPr>
        <p:txBody>
          <a:bodyPr wrap="square" lIns="0" tIns="0" rIns="0" bIns="0" rtlCol="0" anchor="t"/>
          <a:lstStyle/>
          <a:p>
            <a:pPr rtl="1" algn="r" marL="342900" indent="-342900">
              <a:spcAft>
                <a:spcPts val="1200"/>
              </a:spcAft>
              <a:buSzPct val="100000"/>
              <a:buChar char="•"/>
            </a:pPr>
            <a:r>
              <a:rPr lang="ar-SA" altLang="en-US" sz="1600" dirty="0">
                <a:solidFill>
                  <a:schemeClr val="bg2"/>
                </a:solidFill>
              </a:rPr>
              <a:t>التقييم على إعادة تشغيل CICIDS2017، لا على ترافيك منشأة حقيقية بعد</a:t>
            </a:r>
            <a:endParaRPr lang="ar-SA" sz="1600" dirty="0"/>
          </a:p>
          <a:p>
            <a:pPr rtl="1" algn="r" marL="342900" indent="-342900">
              <a:spcAft>
                <a:spcPts val="1200"/>
              </a:spcAft>
              <a:buSzPct val="100000"/>
              <a:buChar char="•"/>
            </a:pPr>
            <a:r>
              <a:rPr lang="ar-SA" altLang="en-US" sz="1600" dirty="0">
                <a:solidFill>
                  <a:schemeClr val="bg2"/>
                </a:solidFill>
              </a:rPr>
              <a:t>خصائص Bulk وActive/Idle مصفّرة في وكيل الخادم</a:t>
            </a:r>
            <a:endParaRPr lang="ar-SA" sz="1600" dirty="0"/>
          </a:p>
          <a:p>
            <a:pPr rtl="1" algn="r" marL="342900" indent="-342900">
              <a:spcAft>
                <a:spcPts val="1200"/>
              </a:spcAft>
              <a:buSzPct val="100000"/>
              <a:buChar char="•"/>
            </a:pPr>
            <a:r>
              <a:rPr lang="ar-SA" altLang="en-US" sz="1600" dirty="0">
                <a:solidFill>
                  <a:schemeClr val="bg2"/>
                </a:solidFill>
              </a:rPr>
              <a:t>مؤشر LSTM إنذار مبكر فقط ولا يفتح حادثة وحده</a:t>
            </a:r>
            <a:endParaRPr lang="ar-SA" sz="1600" dirty="0"/>
          </a:p>
          <a:p>
            <a:pPr rtl="1" algn="r" marL="342900" indent="-342900">
              <a:spcAft>
                <a:spcPts val="1200"/>
              </a:spcAft>
              <a:buSzPct val="100000"/>
              <a:buChar char="•"/>
            </a:pPr>
            <a:r>
              <a:rPr lang="ar-SA" altLang="en-US" sz="1600" dirty="0">
                <a:solidFill>
                  <a:schemeClr val="bg2"/>
                </a:solidFill>
              </a:rPr>
              <a:t>السجلات لا تحدد الموقع المطلوب، فيُطابق المسار على مستوى المنشأة</a:t>
            </a:r>
            <a:endParaRPr lang="ar-SA" sz="1600" dirty="0"/>
          </a:p>
        </p:txBody>
      </p:sp>
      <p:sp>
        <p:nvSpPr>
          <p:cNvPr id="8" name="card"/>
          <p:cNvSpPr/>
          <p:nvPr/>
        </p:nvSpPr>
        <p:spPr>
          <a:xfrm>
            <a:off x="551383" y="1417320"/>
            <a:ext cx="5394960" cy="3931920"/>
          </a:xfrm>
          <a:prstGeom prst="roundRect">
            <a:avLst>
              <a:gd name="adj" fmla="val 2791"/>
            </a:avLst>
          </a:prstGeom>
          <a:solidFill>
            <a:schemeClr val="tx2"/>
          </a:solidFill>
          <a:ln w="12700">
            <a:solidFill>
              <a:schemeClr val="accent5"/>
            </a:solidFill>
            <a:prstDash val="solid"/>
          </a:ln>
        </p:spPr>
      </p:sp>
      <p:sp>
        <p:nvSpPr>
          <p:cNvPr id="9" name="icon-circle"/>
          <p:cNvSpPr/>
          <p:nvPr/>
        </p:nvSpPr>
        <p:spPr>
          <a:xfrm>
            <a:off x="4986223" y="1691640"/>
            <a:ext cx="685800" cy="685800"/>
          </a:xfrm>
          <a:prstGeom prst="ellipse">
            <a:avLst/>
          </a:prstGeom>
          <a:solidFill>
            <a:schemeClr val="tx1"/>
          </a:solidFill>
          <a:ln w="19050">
            <a:solidFill>
              <a:schemeClr val="accent2"/>
            </a:solidFill>
            <a:prstDash val="solid"/>
          </a:ln>
        </p:spPr>
      </p:sp>
      <p:pic>
        <p:nvPicPr>
          <p:cNvPr id="10" name="icon" descr="FaRoute">    </p:cNvPr>
          <p:cNvPicPr>
            <a:picLocks noChangeAspect="1"/>
          </p:cNvPicPr>
          <p:nvPr/>
        </p:nvPicPr>
        <p:blipFill>
          <a:blip r:embed="rId2"/>
          <a:stretch>
            <a:fillRect/>
          </a:stretch>
        </p:blipFill>
        <p:spPr>
          <a:xfrm>
            <a:off x="5157673" y="1863090"/>
            <a:ext cx="342900" cy="342900"/>
          </a:xfrm>
          <a:prstGeom prst="rect">
            <a:avLst/>
          </a:prstGeom>
        </p:spPr>
      </p:pic>
      <p:sp>
        <p:nvSpPr>
          <p:cNvPr id="11" name="Text 7"/>
          <p:cNvSpPr txBox="1"/>
          <p:nvPr/>
        </p:nvSpPr>
        <p:spPr>
          <a:xfrm>
            <a:off x="825703" y="1810512"/>
            <a:ext cx="4023360" cy="457200"/>
          </a:xfrm>
          <a:prstGeom prst="rect">
            <a:avLst/>
          </a:prstGeom>
          <a:noFill/>
          <a:ln/>
        </p:spPr>
        <p:txBody>
          <a:bodyPr wrap="square" lIns="0" tIns="0" rIns="0" bIns="0" rtlCol="0" anchor="t"/>
          <a:lstStyle/>
          <a:p>
            <a:pPr rtl="1" algn="r" indent="0" marL="0">
              <a:buNone/>
            </a:pPr>
            <a:r>
              <a:rPr lang="ar-SA" altLang="en-US" sz="2200" b="1" dirty="0">
                <a:solidFill>
                  <a:schemeClr val="bg1"/>
                </a:solidFill>
              </a:rPr>
              <a:t>الخطوة التالية</a:t>
            </a:r>
            <a:endParaRPr lang="ar-SA" sz="2200" dirty="0"/>
          </a:p>
        </p:txBody>
      </p:sp>
      <p:sp>
        <p:nvSpPr>
          <p:cNvPr id="12" name="Text 8"/>
          <p:cNvSpPr txBox="1"/>
          <p:nvPr/>
        </p:nvSpPr>
        <p:spPr>
          <a:xfrm>
            <a:off x="871423" y="2606040"/>
            <a:ext cx="4754880" cy="3108960"/>
          </a:xfrm>
          <a:prstGeom prst="rect">
            <a:avLst/>
          </a:prstGeom>
          <a:noFill/>
          <a:ln/>
        </p:spPr>
        <p:txBody>
          <a:bodyPr wrap="square" lIns="0" tIns="0" rIns="0" bIns="0" rtlCol="0" anchor="t"/>
          <a:lstStyle/>
          <a:p>
            <a:pPr rtl="1" algn="r" marL="342900" indent="-342900">
              <a:spcAft>
                <a:spcPts val="1200"/>
              </a:spcAft>
              <a:buSzPct val="100000"/>
              <a:buChar char="•"/>
            </a:pPr>
            <a:r>
              <a:rPr lang="ar-SA" altLang="en-US" sz="1600" dirty="0">
                <a:solidFill>
                  <a:schemeClr val="bg2"/>
                </a:solidFill>
              </a:rPr>
              <a:t>تجربة ميدانية على منشأة صغيرة حقيقية</a:t>
            </a:r>
            <a:endParaRPr lang="ar-SA" sz="1600" dirty="0"/>
          </a:p>
          <a:p>
            <a:pPr rtl="1" algn="r" marL="342900" indent="-342900">
              <a:spcAft>
                <a:spcPts val="1200"/>
              </a:spcAft>
              <a:buSzPct val="100000"/>
              <a:buChar char="•"/>
            </a:pPr>
            <a:r>
              <a:rPr lang="ar-SA" altLang="en-US" sz="1600" dirty="0">
                <a:solidFill>
                  <a:schemeClr val="bg2"/>
                </a:solidFill>
              </a:rPr>
              <a:t>تقرير أمني دوري لصاحب المنشأة</a:t>
            </a:r>
            <a:endParaRPr lang="ar-SA" sz="1600" dirty="0"/>
          </a:p>
          <a:p>
            <a:pPr rtl="1" algn="r" marL="342900" indent="-342900">
              <a:spcAft>
                <a:spcPts val="1200"/>
              </a:spcAft>
              <a:buSzPct val="100000"/>
              <a:buChar char="•"/>
            </a:pPr>
            <a:r>
              <a:rPr lang="ar-SA" altLang="en-US" sz="1600" dirty="0">
                <a:solidFill>
                  <a:schemeClr val="bg2"/>
                </a:solidFill>
              </a:rPr>
              <a:t>ربط الحملات بالشبكة الفرعية وسلوك المهاجم</a:t>
            </a:r>
            <a:endParaRPr lang="ar-SA" sz="1600" dirty="0"/>
          </a:p>
          <a:p>
            <a:pPr rtl="1" algn="r" marL="342900" indent="-342900">
              <a:spcAft>
                <a:spcPts val="1200"/>
              </a:spcAft>
              <a:buSzPct val="100000"/>
              <a:buChar char="•"/>
            </a:pPr>
            <a:r>
              <a:rPr lang="ar-SA" altLang="en-US" sz="1600" dirty="0">
                <a:solidFill>
                  <a:schemeClr val="bg2"/>
                </a:solidFill>
              </a:rPr>
              <a:t>نشر سحابي بقاعدة بيانات مُدارة</a:t>
            </a:r>
            <a:endParaRPr lang="ar-SA" sz="16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logo" descr="درع">    </p:cNvPr>
          <p:cNvPicPr>
            <a:picLocks noChangeAspect="1"/>
          </p:cNvPicPr>
          <p:nvPr/>
        </p:nvPicPr>
        <p:blipFill>
          <a:blip r:embed="rId1"/>
          <a:stretch>
            <a:fillRect/>
          </a:stretch>
        </p:blipFill>
        <p:spPr>
          <a:xfrm>
            <a:off x="5410048" y="1234440"/>
            <a:ext cx="1371600" cy="1371600"/>
          </a:xfrm>
          <a:prstGeom prst="rect">
            <a:avLst/>
          </a:prstGeom>
        </p:spPr>
      </p:pic>
      <p:sp>
        <p:nvSpPr>
          <p:cNvPr id="3" name="Text 0"/>
          <p:cNvSpPr/>
          <p:nvPr>
            <p:ph idx="100" type="title" hasCustomPrompt="1"/>
          </p:nvPr>
        </p:nvSpPr>
        <p:spPr>
          <a:xfrm>
            <a:off x="914400" y="2788920"/>
            <a:ext cx="10362895" cy="914400"/>
          </a:xfrm>
          <a:prstGeom prst="rect">
            <a:avLst/>
          </a:prstGeom>
          <a:noFill/>
          <a:ln/>
        </p:spPr>
        <p:txBody>
          <a:bodyPr wrap="square" rtlCol="0" anchor="ctr"/>
          <a:lstStyle/>
          <a:p>
            <a:pPr rtl="1" algn="ctr" indent="0" marL="0">
              <a:buNone/>
            </a:pPr>
            <a:r>
              <a:rPr lang="en-US" sz="4400" b="1" dirty="0">
                <a:solidFill>
                  <a:schemeClr val="bg1"/>
                </a:solidFill>
              </a:rPr>
              <a:t>تكشف · تتنبأ · تحقق · تقترح</a:t>
            </a:r>
            <a:endParaRPr lang="en-US" sz="4400" dirty="0"/>
          </a:p>
        </p:txBody>
      </p:sp>
      <p:sp>
        <p:nvSpPr>
          <p:cNvPr id="4" name="Text 1"/>
          <p:cNvSpPr txBox="1"/>
          <p:nvPr/>
        </p:nvSpPr>
        <p:spPr>
          <a:xfrm>
            <a:off x="914400" y="3794760"/>
            <a:ext cx="10362895" cy="548640"/>
          </a:xfrm>
          <a:prstGeom prst="rect">
            <a:avLst/>
          </a:prstGeom>
          <a:noFill/>
          <a:ln/>
        </p:spPr>
        <p:txBody>
          <a:bodyPr wrap="square" lIns="0" tIns="0" rIns="0" bIns="0" rtlCol="0" anchor="t"/>
          <a:lstStyle/>
          <a:p>
            <a:pPr rtl="1" algn="ctr" indent="0" marL="0">
              <a:buNone/>
            </a:pPr>
            <a:r>
              <a:rPr lang="ar-SA" altLang="en-US" sz="2800" b="1" dirty="0">
                <a:solidFill>
                  <a:schemeClr val="accent2"/>
                </a:solidFill>
              </a:rPr>
              <a:t>… والقرار لك</a:t>
            </a:r>
            <a:endParaRPr lang="ar-SA" sz="2800" dirty="0"/>
          </a:p>
        </p:txBody>
      </p:sp>
      <p:sp>
        <p:nvSpPr>
          <p:cNvPr id="5" name="Text 2"/>
          <p:cNvSpPr txBox="1"/>
          <p:nvPr/>
        </p:nvSpPr>
        <p:spPr>
          <a:xfrm>
            <a:off x="914400" y="4937760"/>
            <a:ext cx="10362895" cy="457200"/>
          </a:xfrm>
          <a:prstGeom prst="rect">
            <a:avLst/>
          </a:prstGeom>
          <a:noFill/>
          <a:ln/>
        </p:spPr>
        <p:txBody>
          <a:bodyPr wrap="square" lIns="0" tIns="0" rIns="0" bIns="0" rtlCol="0" anchor="t"/>
          <a:lstStyle/>
          <a:p>
            <a:pPr rtl="1" algn="ctr" indent="0" marL="0">
              <a:buNone/>
            </a:pPr>
            <a:r>
              <a:rPr lang="ar-SA" altLang="en-US" sz="2000" dirty="0">
                <a:solidFill>
                  <a:schemeClr val="bg2"/>
                </a:solidFill>
              </a:rPr>
              <a:t>شكرًا لكم</a:t>
            </a:r>
            <a:endParaRPr lang="ar-SA" sz="2000" dirty="0"/>
          </a:p>
        </p:txBody>
      </p:sp>
      <p:sp>
        <p:nvSpPr>
          <p:cNvPr id="7" name="Text 0"/>
          <p:cNvSpPr/>
          <p:nvPr>
            <p:ph idx="101" type="body" hasCustomPrompt="1"/>
          </p:nvPr>
        </p:nvSpPr>
        <p:spPr>
          <a:xfrm>
            <a:off x="914400" y="3749040"/>
            <a:ext cx="10362895" cy="548640"/>
          </a:xfrm>
          <a:prstGeom prst="rect">
            <a:avLst/>
          </a:prstGeom>
          <a:noFill/>
          <a:ln/>
        </p:spPr>
        <p:txBody>
          <a:bodyPr wrap="square" rtlCol="0" anchor="t"/>
          <a:lstStyle/>
          <a:p>
            <a:pPr algn="ctr" indent="0" marL="0">
              <a:buNone/>
            </a:pPr>
            <a:endParaRPr lang="en-US" sz="2200" dirty="0"/>
          </a:p>
        </p:txBody>
      </p:sp>
    </p:spTree>
  </p:cSld>
  <p:clrMapOvr>
    <a:masterClrMapping/>
  </p:clrMapOvr>
</p:sld>
</file>

<file path=ppt/theme/theme1.xml><?xml version="1.0" encoding="utf-8"?>
<a:theme xmlns:a="http://schemas.openxmlformats.org/drawingml/2006/main" name="Predictive Cyber">
  <a:themeElements>
    <a:clrScheme name="Predictive Cyber">
      <a:dk1>
        <a:srgbClr val="0A0E18"/>
      </a:dk1>
      <a:lt1>
        <a:srgbClr val="FFFFFF"/>
      </a:lt1>
      <a:dk2>
        <a:srgbClr val="121A2C"/>
      </a:dk2>
      <a:lt2>
        <a:srgbClr val="9AA7C4"/>
      </a:lt2>
      <a:accent1>
        <a:srgbClr val="38BDF8"/>
      </a:accent1>
      <a:accent2>
        <a:srgbClr val="2FE38A"/>
      </a:accent2>
      <a:accent3>
        <a:srgbClr val="FF4D62"/>
      </a:accent3>
      <a:accent4>
        <a:srgbClr val="FFB020"/>
      </a:accent4>
      <a:accent5>
        <a:srgbClr val="1E2A44"/>
      </a:accent5>
      <a:accent6>
        <a:srgbClr val="64718E"/>
      </a:accent6>
      <a:hlink>
        <a:srgbClr val="38BDF8"/>
      </a:hlink>
      <a:folHlink>
        <a:srgbClr val="9AA7C4"/>
      </a:folHlink>
    </a:clrScheme>
    <a:fontScheme name="Predictive Cyb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التنبؤ بالهجمات السيبرانية</dc:title>
  <dc:subject>PptxGenJS Presentation</dc:subject>
  <dc:creator>فريق المشروع</dc:creator>
  <cp:lastModifiedBy>فريق المشروع</cp:lastModifiedBy>
  <cp:revision>1</cp:revision>
  <dcterms:created xsi:type="dcterms:W3CDTF">2026-10-27T14:44:51Z</dcterms:created>
  <dcterms:modified xsi:type="dcterms:W3CDTF">2026-10-27T14:44:51Z</dcterms:modified>
</cp:coreProperties>
</file>